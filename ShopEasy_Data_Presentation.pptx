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47"/>
        </a:solidFill>
      </p:bgPr>
    </p:bg>
    <p:spTree>
      <p:nvGrpSpPr>
        <p:cNvPr id="1" name=""/>
        <p:cNvGrpSpPr/>
        <p:nvPr/>
      </p:nvGrpSpPr>
      <p:grpSpPr>
        <a:xfrm>
          <a:off x="0" y="0"/>
          <a:ext cx="0" cy="0"/>
          <a:chOff x="0" y="0"/>
          <a:chExt cx="0" cy="0"/>
        </a:xfrm>
      </p:grpSpPr>
      <p:sp>
        <p:nvSpPr>
          <p:cNvPr id="2" name="Shape 0"/>
          <p:cNvSpPr/>
          <p:nvPr/>
        </p:nvSpPr>
        <p:spPr>
          <a:xfrm>
            <a:off x="9692640" y="5120640"/>
            <a:ext cx="3840480" cy="3840480"/>
          </a:xfrm>
          <a:prstGeom prst="ellipse">
            <a:avLst/>
          </a:prstGeom>
          <a:solidFill>
            <a:srgbClr val="081D33"/>
          </a:solidFill>
          <a:ln/>
        </p:spPr>
      </p:sp>
      <p:sp>
        <p:nvSpPr>
          <p:cNvPr id="3" name="Shape 1"/>
          <p:cNvSpPr/>
          <p:nvPr/>
        </p:nvSpPr>
        <p:spPr>
          <a:xfrm>
            <a:off x="-1463040" y="-1645920"/>
            <a:ext cx="3291840" cy="3291840"/>
          </a:xfrm>
          <a:prstGeom prst="ellipse">
            <a:avLst/>
          </a:prstGeom>
          <a:solidFill>
            <a:srgbClr val="081D33"/>
          </a:solidFill>
          <a:ln/>
        </p:spPr>
      </p:sp>
      <p:sp>
        <p:nvSpPr>
          <p:cNvPr id="4" name="Shape 2"/>
          <p:cNvSpPr/>
          <p:nvPr/>
        </p:nvSpPr>
        <p:spPr>
          <a:xfrm>
            <a:off x="4038905" y="1280160"/>
            <a:ext cx="4114800" cy="1493215"/>
          </a:xfrm>
          <a:prstGeom prst="roundRect">
            <a:avLst>
              <a:gd name="adj" fmla="val 7348"/>
            </a:avLst>
          </a:prstGeom>
          <a:solidFill>
            <a:srgbClr val="FFFFFF"/>
          </a:solidFill>
          <a:ln/>
          <a:effectLst>
            <a:outerShdw sx="100000" sy="100000" kx="0" ky="0" algn="bl" rotWithShape="0" blurRad="177800" dist="50800" dir="5400000">
              <a:srgbClr val="020A14">
                <a:alpha val="35000"/>
              </a:srgbClr>
            </a:outerShdw>
          </a:effectLst>
        </p:spPr>
      </p:sp>
      <p:pic>
        <p:nvPicPr>
          <p:cNvPr id="5" name="Image 0" descr="assets/logo.png">    </p:cNvPr>
          <p:cNvPicPr>
            <a:picLocks noChangeAspect="1"/>
          </p:cNvPicPr>
          <p:nvPr/>
        </p:nvPicPr>
        <p:blipFill>
          <a:blip r:embed="rId1"/>
          <a:stretch>
            <a:fillRect/>
          </a:stretch>
        </p:blipFill>
        <p:spPr>
          <a:xfrm>
            <a:off x="4267505" y="1417320"/>
            <a:ext cx="3657600" cy="1218895"/>
          </a:xfrm>
          <a:prstGeom prst="rect">
            <a:avLst/>
          </a:prstGeom>
        </p:spPr>
      </p:pic>
      <p:sp>
        <p:nvSpPr>
          <p:cNvPr id="6" name="Text 3"/>
          <p:cNvSpPr txBox="1"/>
          <p:nvPr/>
        </p:nvSpPr>
        <p:spPr>
          <a:xfrm>
            <a:off x="914400" y="3063240"/>
            <a:ext cx="10362895" cy="822960"/>
          </a:xfrm>
          <a:prstGeom prst="rect">
            <a:avLst/>
          </a:prstGeom>
          <a:noFill/>
          <a:ln/>
        </p:spPr>
        <p:txBody>
          <a:bodyPr wrap="square" lIns="0" tIns="0" rIns="0" bIns="0" rtlCol="0" anchor="t"/>
          <a:lstStyle/>
          <a:p>
            <a:pPr algn="ctr" indent="0" marL="0">
              <a:buNone/>
            </a:pPr>
            <a:r>
              <a:rPr lang="en-US" sz="4000" b="1" dirty="0">
                <a:solidFill>
                  <a:srgbClr val="FFFFFF"/>
                </a:solidFill>
                <a:latin typeface="Calibri" pitchFamily="34" charset="0"/>
                <a:ea typeface="Calibri" pitchFamily="34" charset="-122"/>
                <a:cs typeface="Calibri" pitchFamily="34" charset="-120"/>
              </a:rPr>
              <a:t>Data Presentation</a:t>
            </a:r>
            <a:endParaRPr lang="en-US" sz="4000" dirty="0"/>
          </a:p>
        </p:txBody>
      </p:sp>
      <p:sp>
        <p:nvSpPr>
          <p:cNvPr id="7" name="Shape 4"/>
          <p:cNvSpPr/>
          <p:nvPr/>
        </p:nvSpPr>
        <p:spPr>
          <a:xfrm>
            <a:off x="5725973" y="3913632"/>
            <a:ext cx="100584" cy="100584"/>
          </a:xfrm>
          <a:prstGeom prst="ellipse">
            <a:avLst/>
          </a:prstGeom>
          <a:solidFill>
            <a:srgbClr val="13858D"/>
          </a:solidFill>
          <a:ln/>
        </p:spPr>
      </p:sp>
      <p:sp>
        <p:nvSpPr>
          <p:cNvPr id="8" name="Shape 5"/>
          <p:cNvSpPr/>
          <p:nvPr/>
        </p:nvSpPr>
        <p:spPr>
          <a:xfrm>
            <a:off x="6046013" y="3913632"/>
            <a:ext cx="100584" cy="100584"/>
          </a:xfrm>
          <a:prstGeom prst="ellipse">
            <a:avLst/>
          </a:prstGeom>
          <a:solidFill>
            <a:srgbClr val="E97028"/>
          </a:solidFill>
          <a:ln/>
        </p:spPr>
      </p:sp>
      <p:sp>
        <p:nvSpPr>
          <p:cNvPr id="9" name="Shape 6"/>
          <p:cNvSpPr/>
          <p:nvPr/>
        </p:nvSpPr>
        <p:spPr>
          <a:xfrm>
            <a:off x="6366053" y="3913632"/>
            <a:ext cx="100584" cy="100584"/>
          </a:xfrm>
          <a:prstGeom prst="ellipse">
            <a:avLst/>
          </a:prstGeom>
          <a:solidFill>
            <a:srgbClr val="13858D"/>
          </a:solidFill>
          <a:ln/>
        </p:spPr>
      </p:sp>
      <p:sp>
        <p:nvSpPr>
          <p:cNvPr id="10" name="Text 7"/>
          <p:cNvSpPr txBox="1"/>
          <p:nvPr/>
        </p:nvSpPr>
        <p:spPr>
          <a:xfrm>
            <a:off x="914400" y="4160520"/>
            <a:ext cx="10362895" cy="457200"/>
          </a:xfrm>
          <a:prstGeom prst="rect">
            <a:avLst/>
          </a:prstGeom>
          <a:noFill/>
          <a:ln/>
        </p:spPr>
        <p:txBody>
          <a:bodyPr wrap="square" lIns="0" tIns="0" rIns="0" bIns="0" rtlCol="0" anchor="t"/>
          <a:lstStyle/>
          <a:p>
            <a:pPr algn="ctr" indent="0" marL="0">
              <a:buNone/>
            </a:pPr>
            <a:r>
              <a:rPr lang="en-US" sz="1800" dirty="0">
                <a:solidFill>
                  <a:srgbClr val="CADCE0"/>
                </a:solidFill>
                <a:latin typeface="Calibri" pitchFamily="34" charset="0"/>
                <a:ea typeface="Calibri" pitchFamily="34" charset="-122"/>
                <a:cs typeface="Calibri" pitchFamily="34" charset="-120"/>
              </a:rPr>
              <a:t>Marketing Analytics Portfolio Project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9601200" cy="640080"/>
          </a:xfrm>
          <a:prstGeom prst="rect">
            <a:avLst/>
          </a:prstGeom>
          <a:noFill/>
          <a:ln/>
        </p:spPr>
        <p:txBody>
          <a:bodyPr wrap="square" lIns="0" tIns="0" rIns="0" bIns="0" rtlCol="0" anchor="t"/>
          <a:lstStyle/>
          <a:p>
            <a:pPr algn="l" indent="0" marL="0">
              <a:buNone/>
            </a:pPr>
            <a:r>
              <a:rPr lang="en-US" sz="3200" b="1" dirty="0">
                <a:solidFill>
                  <a:srgbClr val="0B2A47"/>
                </a:solidFill>
                <a:latin typeface="Calibri" pitchFamily="34" charset="0"/>
                <a:ea typeface="Calibri" pitchFamily="34" charset="-122"/>
                <a:cs typeface="Calibri" pitchFamily="34" charset="-120"/>
              </a:rPr>
              <a:t>Overview</a:t>
            </a:r>
            <a:endParaRPr lang="en-US" sz="3200" dirty="0"/>
          </a:p>
        </p:txBody>
      </p:sp>
      <p:sp>
        <p:nvSpPr>
          <p:cNvPr id="3" name="Shape 1"/>
          <p:cNvSpPr/>
          <p:nvPr/>
        </p:nvSpPr>
        <p:spPr>
          <a:xfrm>
            <a:off x="521208" y="1042416"/>
            <a:ext cx="457200" cy="41148"/>
          </a:xfrm>
          <a:prstGeom prst="rect">
            <a:avLst/>
          </a:prstGeom>
          <a:solidFill>
            <a:srgbClr val="E97028"/>
          </a:solidFill>
          <a:ln/>
        </p:spPr>
      </p:sp>
      <p:sp>
        <p:nvSpPr>
          <p:cNvPr id="4" name="Shape 2"/>
          <p:cNvSpPr/>
          <p:nvPr/>
        </p:nvSpPr>
        <p:spPr>
          <a:xfrm>
            <a:off x="502920" y="1417320"/>
            <a:ext cx="402336" cy="402336"/>
          </a:xfrm>
          <a:prstGeom prst="ellipse">
            <a:avLst/>
          </a:prstGeom>
          <a:solidFill>
            <a:srgbClr val="13858D"/>
          </a:solidFill>
          <a:ln/>
        </p:spPr>
      </p:sp>
      <p:sp>
        <p:nvSpPr>
          <p:cNvPr id="5" name="Text 3"/>
          <p:cNvSpPr txBox="1"/>
          <p:nvPr/>
        </p:nvSpPr>
        <p:spPr>
          <a:xfrm>
            <a:off x="502920" y="141732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069848" y="1389888"/>
            <a:ext cx="4507992" cy="329184"/>
          </a:xfrm>
          <a:prstGeom prst="rect">
            <a:avLst/>
          </a:prstGeom>
          <a:noFill/>
          <a:ln/>
        </p:spPr>
        <p:txBody>
          <a:bodyPr wrap="square" lIns="0" tIns="0" rIns="0" bIns="0" rtlCol="0" anchor="t"/>
          <a:lstStyle/>
          <a:p>
            <a:pPr algn="l" indent="0" marL="0">
              <a:buNone/>
            </a:pPr>
            <a:r>
              <a:rPr lang="en-US" sz="1500" b="1" dirty="0">
                <a:solidFill>
                  <a:srgbClr val="0B2A47"/>
                </a:solidFill>
                <a:latin typeface="Calibri" pitchFamily="34" charset="0"/>
                <a:ea typeface="Calibri" pitchFamily="34" charset="-122"/>
                <a:cs typeface="Calibri" pitchFamily="34" charset="-120"/>
              </a:rPr>
              <a:t>Decreased Conversion Rates</a:t>
            </a:r>
            <a:endParaRPr lang="en-US" sz="1500" dirty="0"/>
          </a:p>
        </p:txBody>
      </p:sp>
      <p:sp>
        <p:nvSpPr>
          <p:cNvPr id="7" name="Text 5"/>
          <p:cNvSpPr txBox="1"/>
          <p:nvPr/>
        </p:nvSpPr>
        <p:spPr>
          <a:xfrm>
            <a:off x="1069848" y="1709928"/>
            <a:ext cx="4507992" cy="914400"/>
          </a:xfrm>
          <a:prstGeom prst="rect">
            <a:avLst/>
          </a:prstGeom>
          <a:noFill/>
          <a:ln/>
        </p:spPr>
        <p:txBody>
          <a:bodyPr wrap="square" lIns="0" tIns="0" rIns="0" bIns="0" rtlCol="0" anchor="t"/>
          <a:lstStyle/>
          <a:p>
            <a:pPr algn="l" indent="0" marL="0">
              <a:lnSpc>
                <a:spcPct val="112000"/>
              </a:lnSpc>
              <a:buNone/>
            </a:pPr>
            <a:r>
              <a:rPr lang="en-US" sz="1150" dirty="0">
                <a:solidFill>
                  <a:srgbClr val="3D4A5C"/>
                </a:solidFill>
                <a:latin typeface="Calibri" pitchFamily="34" charset="0"/>
                <a:ea typeface="Calibri" pitchFamily="34" charset="-122"/>
                <a:cs typeface="Calibri" pitchFamily="34" charset="-120"/>
              </a:rPr>
              <a:t>Conversion took a hit in October, dropping to 6.15%, but bounced back strong in December to close the year at 11.41%.</a:t>
            </a:r>
            <a:endParaRPr lang="en-US" sz="1150" dirty="0"/>
          </a:p>
        </p:txBody>
      </p:sp>
      <p:sp>
        <p:nvSpPr>
          <p:cNvPr id="8" name="Shape 6"/>
          <p:cNvSpPr/>
          <p:nvPr/>
        </p:nvSpPr>
        <p:spPr>
          <a:xfrm>
            <a:off x="502920" y="2880360"/>
            <a:ext cx="402336" cy="402336"/>
          </a:xfrm>
          <a:prstGeom prst="ellipse">
            <a:avLst/>
          </a:prstGeom>
          <a:solidFill>
            <a:srgbClr val="E97028"/>
          </a:solidFill>
          <a:ln/>
        </p:spPr>
      </p:sp>
      <p:sp>
        <p:nvSpPr>
          <p:cNvPr id="9" name="Text 7"/>
          <p:cNvSpPr txBox="1"/>
          <p:nvPr/>
        </p:nvSpPr>
        <p:spPr>
          <a:xfrm>
            <a:off x="502920" y="288036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069848" y="2852928"/>
            <a:ext cx="4507992" cy="329184"/>
          </a:xfrm>
          <a:prstGeom prst="rect">
            <a:avLst/>
          </a:prstGeom>
          <a:noFill/>
          <a:ln/>
        </p:spPr>
        <p:txBody>
          <a:bodyPr wrap="square" lIns="0" tIns="0" rIns="0" bIns="0" rtlCol="0" anchor="t"/>
          <a:lstStyle/>
          <a:p>
            <a:pPr algn="l" indent="0" marL="0">
              <a:buNone/>
            </a:pPr>
            <a:r>
              <a:rPr lang="en-US" sz="1500" b="1" dirty="0">
                <a:solidFill>
                  <a:srgbClr val="0B2A47"/>
                </a:solidFill>
                <a:latin typeface="Calibri" pitchFamily="34" charset="0"/>
                <a:ea typeface="Calibri" pitchFamily="34" charset="-122"/>
                <a:cs typeface="Calibri" pitchFamily="34" charset="-120"/>
              </a:rPr>
              <a:t>Reduced Customer Engagement</a:t>
            </a:r>
            <a:endParaRPr lang="en-US" sz="1500" dirty="0"/>
          </a:p>
        </p:txBody>
      </p:sp>
      <p:sp>
        <p:nvSpPr>
          <p:cNvPr id="11" name="Text 9"/>
          <p:cNvSpPr txBox="1"/>
          <p:nvPr/>
        </p:nvSpPr>
        <p:spPr>
          <a:xfrm>
            <a:off x="1069848" y="3172968"/>
            <a:ext cx="4507992" cy="1188720"/>
          </a:xfrm>
          <a:prstGeom prst="rect">
            <a:avLst/>
          </a:prstGeom>
          <a:noFill/>
          <a:ln/>
        </p:spPr>
        <p:txBody>
          <a:bodyPr wrap="square" lIns="0" tIns="0" rIns="0" bIns="0" rtlCol="0" anchor="t"/>
          <a:lstStyle/>
          <a:p>
            <a:pPr algn="l" indent="0" marL="0">
              <a:lnSpc>
                <a:spcPct val="112000"/>
              </a:lnSpc>
              <a:buNone/>
            </a:pPr>
            <a:r>
              <a:rPr lang="en-US" sz="1150" dirty="0">
                <a:solidFill>
                  <a:srgbClr val="3D4A5C"/>
                </a:solidFill>
                <a:latin typeface="Calibri" pitchFamily="34" charset="0"/>
                <a:ea typeface="Calibri" pitchFamily="34" charset="-122"/>
                <a:cs typeface="Calibri" pitchFamily="34" charset="-120"/>
              </a:rPr>
              <a:t>Social media engagement slowed down this year, with views falling steadily. Clicks and likes stayed low next to views overall, but the people who did engage stuck around, with a solid 19.66% click-through rate.</a:t>
            </a:r>
            <a:endParaRPr lang="en-US" sz="1150" dirty="0"/>
          </a:p>
        </p:txBody>
      </p:sp>
      <p:sp>
        <p:nvSpPr>
          <p:cNvPr id="12" name="Shape 10"/>
          <p:cNvSpPr/>
          <p:nvPr/>
        </p:nvSpPr>
        <p:spPr>
          <a:xfrm>
            <a:off x="502920" y="4617720"/>
            <a:ext cx="402336" cy="402336"/>
          </a:xfrm>
          <a:prstGeom prst="ellipse">
            <a:avLst/>
          </a:prstGeom>
          <a:solidFill>
            <a:srgbClr val="0B2A47"/>
          </a:solidFill>
          <a:ln/>
        </p:spPr>
      </p:sp>
      <p:sp>
        <p:nvSpPr>
          <p:cNvPr id="13" name="Text 11"/>
          <p:cNvSpPr txBox="1"/>
          <p:nvPr/>
        </p:nvSpPr>
        <p:spPr>
          <a:xfrm>
            <a:off x="502920" y="461772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069848" y="4590288"/>
            <a:ext cx="4507992" cy="329184"/>
          </a:xfrm>
          <a:prstGeom prst="rect">
            <a:avLst/>
          </a:prstGeom>
          <a:noFill/>
          <a:ln/>
        </p:spPr>
        <p:txBody>
          <a:bodyPr wrap="square" lIns="0" tIns="0" rIns="0" bIns="0" rtlCol="0" anchor="t"/>
          <a:lstStyle/>
          <a:p>
            <a:pPr algn="l" indent="0" marL="0">
              <a:buNone/>
            </a:pPr>
            <a:r>
              <a:rPr lang="en-US" sz="1500" b="1" dirty="0">
                <a:solidFill>
                  <a:srgbClr val="0B2A47"/>
                </a:solidFill>
                <a:latin typeface="Calibri" pitchFamily="34" charset="0"/>
                <a:ea typeface="Calibri" pitchFamily="34" charset="-122"/>
                <a:cs typeface="Calibri" pitchFamily="34" charset="-120"/>
              </a:rPr>
              <a:t>Customer Feedback Analysis</a:t>
            </a:r>
            <a:endParaRPr lang="en-US" sz="1500" dirty="0"/>
          </a:p>
        </p:txBody>
      </p:sp>
      <p:sp>
        <p:nvSpPr>
          <p:cNvPr id="15" name="Text 13"/>
          <p:cNvSpPr txBox="1"/>
          <p:nvPr/>
        </p:nvSpPr>
        <p:spPr>
          <a:xfrm>
            <a:off x="1069848" y="4910328"/>
            <a:ext cx="4507992" cy="1188720"/>
          </a:xfrm>
          <a:prstGeom prst="rect">
            <a:avLst/>
          </a:prstGeom>
          <a:noFill/>
          <a:ln/>
        </p:spPr>
        <p:txBody>
          <a:bodyPr wrap="square" lIns="0" tIns="0" rIns="0" bIns="0" rtlCol="0" anchor="t"/>
          <a:lstStyle/>
          <a:p>
            <a:pPr algn="l" indent="0" marL="0">
              <a:lnSpc>
                <a:spcPct val="112000"/>
              </a:lnSpc>
              <a:buNone/>
            </a:pPr>
            <a:r>
              <a:rPr lang="en-US" sz="1150" dirty="0">
                <a:solidFill>
                  <a:srgbClr val="3D4A5C"/>
                </a:solidFill>
                <a:latin typeface="Calibri" pitchFamily="34" charset="0"/>
                <a:ea typeface="Calibri" pitchFamily="34" charset="-122"/>
                <a:cs typeface="Calibri" pitchFamily="34" charset="-120"/>
              </a:rPr>
              <a:t>Ratings held steady all year at an average of 3.69, just under our 4.0 goal. Products scoring below 3.6 are the ones that need attention first.</a:t>
            </a:r>
            <a:endParaRPr lang="en-US" sz="1150" dirty="0"/>
          </a:p>
        </p:txBody>
      </p:sp>
      <p:sp>
        <p:nvSpPr>
          <p:cNvPr id="16" name="Shape 14"/>
          <p:cNvSpPr/>
          <p:nvPr/>
        </p:nvSpPr>
        <p:spPr>
          <a:xfrm>
            <a:off x="5852160" y="1188720"/>
            <a:ext cx="6016752" cy="3596660"/>
          </a:xfrm>
          <a:prstGeom prst="roundRect">
            <a:avLst>
              <a:gd name="adj" fmla="val 2034"/>
            </a:avLst>
          </a:prstGeom>
          <a:solidFill>
            <a:srgbClr val="FFFFFF"/>
          </a:solidFill>
          <a:ln w="12700">
            <a:solidFill>
              <a:srgbClr val="E2E8ED"/>
            </a:solidFill>
            <a:prstDash val="solid"/>
          </a:ln>
          <a:effectLst>
            <a:outerShdw sx="100000" sy="100000" kx="0" ky="0" algn="bl" rotWithShape="0" blurRad="127000" dist="38100" dir="5400000">
              <a:srgbClr val="1B2A3A">
                <a:alpha val="18000"/>
              </a:srgbClr>
            </a:outerShdw>
          </a:effectLst>
        </p:spPr>
      </p:sp>
      <p:pic>
        <p:nvPicPr>
          <p:cNvPr id="17" name="Image 0" descr="assets/dashboard.png">    </p:cNvPr>
          <p:cNvPicPr>
            <a:picLocks noChangeAspect="1"/>
          </p:cNvPicPr>
          <p:nvPr/>
        </p:nvPicPr>
        <p:blipFill>
          <a:blip r:embed="rId1"/>
          <a:stretch>
            <a:fillRect/>
          </a:stretch>
        </p:blipFill>
        <p:spPr>
          <a:xfrm>
            <a:off x="5989320" y="1325880"/>
            <a:ext cx="5742432" cy="3322340"/>
          </a:xfrm>
          <a:prstGeom prst="rect">
            <a:avLst/>
          </a:prstGeom>
        </p:spPr>
      </p:pic>
      <p:sp>
        <p:nvSpPr>
          <p:cNvPr id="18" name="Shape 15"/>
          <p:cNvSpPr/>
          <p:nvPr/>
        </p:nvSpPr>
        <p:spPr>
          <a:xfrm>
            <a:off x="8762915" y="1468741"/>
            <a:ext cx="1033638" cy="800684"/>
          </a:xfrm>
          <a:prstGeom prst="ellipse">
            <a:avLst/>
          </a:prstGeom>
          <a:ln w="28575">
            <a:solidFill>
              <a:srgbClr val="E97028"/>
            </a:solidFill>
            <a:prstDash val="solid"/>
          </a:ln>
        </p:spPr>
      </p:sp>
      <p:sp>
        <p:nvSpPr>
          <p:cNvPr id="19" name="Shape 16"/>
          <p:cNvSpPr/>
          <p:nvPr/>
        </p:nvSpPr>
        <p:spPr>
          <a:xfrm>
            <a:off x="8512545" y="3787402"/>
            <a:ext cx="1171456" cy="677757"/>
          </a:xfrm>
          <a:prstGeom prst="roundRect">
            <a:avLst>
              <a:gd name="adj" fmla="val 8095"/>
            </a:avLst>
          </a:prstGeom>
          <a:ln w="28575">
            <a:solidFill>
              <a:srgbClr val="E97028"/>
            </a:solidFill>
            <a:prstDash val="solid"/>
          </a:ln>
        </p:spPr>
      </p:sp>
      <p:sp>
        <p:nvSpPr>
          <p:cNvPr id="20" name="Shape 17"/>
          <p:cNvSpPr/>
          <p:nvPr/>
        </p:nvSpPr>
        <p:spPr>
          <a:xfrm>
            <a:off x="10462675" y="2591692"/>
            <a:ext cx="1096805" cy="272432"/>
          </a:xfrm>
          <a:prstGeom prst="line">
            <a:avLst/>
          </a:prstGeom>
          <a:noFill/>
          <a:ln w="31750">
            <a:solidFill>
              <a:srgbClr val="E97028"/>
            </a:solidFill>
            <a:prstDash val="solid"/>
            <a:tailEnd type="triangle"/>
          </a:ln>
        </p:spPr>
      </p:sp>
      <p:pic>
        <p:nvPicPr>
          <p:cNvPr id="21" name="Image 1" descr="assets/logo.png">    </p:cNvPr>
          <p:cNvPicPr>
            <a:picLocks noChangeAspect="1"/>
          </p:cNvPicPr>
          <p:nvPr/>
        </p:nvPicPr>
        <p:blipFill>
          <a:blip r:embed="rId2"/>
          <a:stretch>
            <a:fillRect/>
          </a:stretch>
        </p:blipFill>
        <p:spPr>
          <a:xfrm>
            <a:off x="10927080" y="6473952"/>
            <a:ext cx="868680" cy="289865"/>
          </a:xfrm>
          <a:prstGeom prst="rect">
            <a:avLst/>
          </a:prstGeom>
        </p:spPr>
      </p:pic>
      <p:sp>
        <p:nvSpPr>
          <p:cNvPr id="22" name="Text 18"/>
          <p:cNvSpPr txBox="1"/>
          <p:nvPr/>
        </p:nvSpPr>
        <p:spPr>
          <a:xfrm>
            <a:off x="11795760" y="6473952"/>
            <a:ext cx="320040" cy="289865"/>
          </a:xfrm>
          <a:prstGeom prst="rect">
            <a:avLst/>
          </a:prstGeom>
          <a:noFill/>
          <a:ln/>
        </p:spPr>
        <p:txBody>
          <a:bodyPr wrap="square" rtlCol="0" anchor="ctr"/>
          <a:lstStyle/>
          <a:p>
            <a:pPr algn="r" indent="0" marL="0">
              <a:buNone/>
            </a:pPr>
            <a:r>
              <a:rPr lang="en-US" sz="1000" dirty="0">
                <a:solidFill>
                  <a:srgbClr val="7A879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9601200" cy="640080"/>
          </a:xfrm>
          <a:prstGeom prst="rect">
            <a:avLst/>
          </a:prstGeom>
          <a:noFill/>
          <a:ln/>
        </p:spPr>
        <p:txBody>
          <a:bodyPr wrap="square" lIns="0" tIns="0" rIns="0" bIns="0" rtlCol="0" anchor="t"/>
          <a:lstStyle/>
          <a:p>
            <a:pPr algn="l" indent="0" marL="0">
              <a:buNone/>
            </a:pPr>
            <a:r>
              <a:rPr lang="en-US" sz="3200" b="1" dirty="0">
                <a:solidFill>
                  <a:srgbClr val="0B2A47"/>
                </a:solidFill>
                <a:latin typeface="Calibri" pitchFamily="34" charset="0"/>
                <a:ea typeface="Calibri" pitchFamily="34" charset="-122"/>
                <a:cs typeface="Calibri" pitchFamily="34" charset="-120"/>
              </a:rPr>
              <a:t>Decreased Conversion Rates</a:t>
            </a:r>
            <a:endParaRPr lang="en-US" sz="3200" dirty="0"/>
          </a:p>
        </p:txBody>
      </p:sp>
      <p:sp>
        <p:nvSpPr>
          <p:cNvPr id="3" name="Shape 1"/>
          <p:cNvSpPr/>
          <p:nvPr/>
        </p:nvSpPr>
        <p:spPr>
          <a:xfrm>
            <a:off x="521208" y="1042416"/>
            <a:ext cx="457200" cy="41148"/>
          </a:xfrm>
          <a:prstGeom prst="rect">
            <a:avLst/>
          </a:prstGeom>
          <a:solidFill>
            <a:srgbClr val="E97028"/>
          </a:solidFill>
          <a:ln/>
        </p:spPr>
      </p:sp>
      <p:sp>
        <p:nvSpPr>
          <p:cNvPr id="4" name="Shape 2"/>
          <p:cNvSpPr/>
          <p:nvPr/>
        </p:nvSpPr>
        <p:spPr>
          <a:xfrm>
            <a:off x="502920" y="1417320"/>
            <a:ext cx="402336" cy="402336"/>
          </a:xfrm>
          <a:prstGeom prst="ellipse">
            <a:avLst/>
          </a:prstGeom>
          <a:solidFill>
            <a:srgbClr val="0B2A47"/>
          </a:solidFill>
          <a:ln/>
        </p:spPr>
      </p:sp>
      <p:sp>
        <p:nvSpPr>
          <p:cNvPr id="5" name="Text 3"/>
          <p:cNvSpPr txBox="1"/>
          <p:nvPr/>
        </p:nvSpPr>
        <p:spPr>
          <a:xfrm>
            <a:off x="502920" y="141732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069848" y="1389888"/>
            <a:ext cx="4507992" cy="329184"/>
          </a:xfrm>
          <a:prstGeom prst="rect">
            <a:avLst/>
          </a:prstGeom>
          <a:noFill/>
          <a:ln/>
        </p:spPr>
        <p:txBody>
          <a:bodyPr wrap="square" lIns="0" tIns="0" rIns="0" bIns="0" rtlCol="0" anchor="t"/>
          <a:lstStyle/>
          <a:p>
            <a:pPr algn="l" indent="0" marL="0">
              <a:buNone/>
            </a:pPr>
            <a:r>
              <a:rPr lang="en-US" sz="1500" b="1" dirty="0">
                <a:solidFill>
                  <a:srgbClr val="0B2A47"/>
                </a:solidFill>
                <a:latin typeface="Calibri" pitchFamily="34" charset="0"/>
                <a:ea typeface="Calibri" pitchFamily="34" charset="-122"/>
                <a:cs typeface="Calibri" pitchFamily="34" charset="-120"/>
              </a:rPr>
              <a:t>General Conversion Trend</a:t>
            </a:r>
            <a:endParaRPr lang="en-US" sz="1500" dirty="0"/>
          </a:p>
        </p:txBody>
      </p:sp>
      <p:sp>
        <p:nvSpPr>
          <p:cNvPr id="7" name="Text 5"/>
          <p:cNvSpPr txBox="1"/>
          <p:nvPr/>
        </p:nvSpPr>
        <p:spPr>
          <a:xfrm>
            <a:off x="1069848" y="1709928"/>
            <a:ext cx="4507992" cy="1600200"/>
          </a:xfrm>
          <a:prstGeom prst="rect">
            <a:avLst/>
          </a:prstGeom>
          <a:noFill/>
          <a:ln/>
        </p:spPr>
        <p:txBody>
          <a:bodyPr wrap="square" lIns="0" tIns="0" rIns="0" bIns="0" rtlCol="0" anchor="t"/>
          <a:lstStyle/>
          <a:p>
            <a:pPr algn="l" indent="0" marL="0">
              <a:lnSpc>
                <a:spcPct val="112000"/>
              </a:lnSpc>
              <a:buNone/>
            </a:pPr>
            <a:r>
              <a:rPr lang="en-US" sz="1100" dirty="0">
                <a:solidFill>
                  <a:srgbClr val="3D4A5C"/>
                </a:solidFill>
                <a:latin typeface="Calibri" pitchFamily="34" charset="0"/>
                <a:ea typeface="Calibri" pitchFamily="34" charset="-122"/>
                <a:cs typeface="Calibri" pitchFamily="34" charset="-120"/>
              </a:rPr>
              <a:t>Conversion swung a lot from month to month. January came out on top, with smaller peaks in September and December, while April, May, and October lagged well behind the average. It looks like seasonal shopping habits, think New Year and holiday sales, are driving a lot of this, which means there's real room to grow during the slower months with the right push.</a:t>
            </a:r>
            <a:endParaRPr lang="en-US" sz="1100" dirty="0"/>
          </a:p>
        </p:txBody>
      </p:sp>
      <p:sp>
        <p:nvSpPr>
          <p:cNvPr id="8" name="Shape 6"/>
          <p:cNvSpPr/>
          <p:nvPr/>
        </p:nvSpPr>
        <p:spPr>
          <a:xfrm>
            <a:off x="502920" y="3337560"/>
            <a:ext cx="402336" cy="402336"/>
          </a:xfrm>
          <a:prstGeom prst="ellipse">
            <a:avLst/>
          </a:prstGeom>
          <a:solidFill>
            <a:srgbClr val="E97028"/>
          </a:solidFill>
          <a:ln/>
        </p:spPr>
      </p:sp>
      <p:sp>
        <p:nvSpPr>
          <p:cNvPr id="9" name="Text 7"/>
          <p:cNvSpPr txBox="1"/>
          <p:nvPr/>
        </p:nvSpPr>
        <p:spPr>
          <a:xfrm>
            <a:off x="502920" y="333756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069848" y="3310128"/>
            <a:ext cx="4507992" cy="329184"/>
          </a:xfrm>
          <a:prstGeom prst="rect">
            <a:avLst/>
          </a:prstGeom>
          <a:noFill/>
          <a:ln/>
        </p:spPr>
        <p:txBody>
          <a:bodyPr wrap="square" lIns="0" tIns="0" rIns="0" bIns="0" rtlCol="0" anchor="t"/>
          <a:lstStyle/>
          <a:p>
            <a:pPr algn="l" indent="0" marL="0">
              <a:buNone/>
            </a:pPr>
            <a:r>
              <a:rPr lang="en-US" sz="1500" b="1" dirty="0">
                <a:solidFill>
                  <a:srgbClr val="0B2A47"/>
                </a:solidFill>
                <a:latin typeface="Calibri" pitchFamily="34" charset="0"/>
                <a:ea typeface="Calibri" pitchFamily="34" charset="-122"/>
                <a:cs typeface="Calibri" pitchFamily="34" charset="-120"/>
              </a:rPr>
              <a:t>Lowest Conversion Month</a:t>
            </a:r>
            <a:endParaRPr lang="en-US" sz="1500" dirty="0"/>
          </a:p>
        </p:txBody>
      </p:sp>
      <p:sp>
        <p:nvSpPr>
          <p:cNvPr id="11" name="Text 9"/>
          <p:cNvSpPr txBox="1"/>
          <p:nvPr/>
        </p:nvSpPr>
        <p:spPr>
          <a:xfrm>
            <a:off x="1069848" y="3630168"/>
            <a:ext cx="4507992" cy="960120"/>
          </a:xfrm>
          <a:prstGeom prst="rect">
            <a:avLst/>
          </a:prstGeom>
          <a:noFill/>
          <a:ln/>
        </p:spPr>
        <p:txBody>
          <a:bodyPr wrap="square" lIns="0" tIns="0" rIns="0" bIns="0" rtlCol="0" anchor="t"/>
          <a:lstStyle/>
          <a:p>
            <a:pPr algn="l" indent="0" marL="0">
              <a:lnSpc>
                <a:spcPct val="112000"/>
              </a:lnSpc>
              <a:buNone/>
            </a:pPr>
            <a:r>
              <a:rPr lang="en-US" sz="1150" dirty="0">
                <a:solidFill>
                  <a:srgbClr val="3D4A5C"/>
                </a:solidFill>
                <a:latin typeface="Calibri" pitchFamily="34" charset="0"/>
                <a:ea typeface="Calibri" pitchFamily="34" charset="-122"/>
                <a:cs typeface="Calibri" pitchFamily="34" charset="-120"/>
              </a:rPr>
              <a:t>October was the weak spot, sitting at just 6.1% with no single product carrying the month. Worth a fresh look at what promotions or messaging could give this period a boost.</a:t>
            </a:r>
            <a:endParaRPr lang="en-US" sz="1150" dirty="0"/>
          </a:p>
        </p:txBody>
      </p:sp>
      <p:sp>
        <p:nvSpPr>
          <p:cNvPr id="12" name="Shape 10"/>
          <p:cNvSpPr/>
          <p:nvPr/>
        </p:nvSpPr>
        <p:spPr>
          <a:xfrm>
            <a:off x="502920" y="4709160"/>
            <a:ext cx="402336" cy="402336"/>
          </a:xfrm>
          <a:prstGeom prst="ellipse">
            <a:avLst/>
          </a:prstGeom>
          <a:solidFill>
            <a:srgbClr val="13858D"/>
          </a:solidFill>
          <a:ln/>
        </p:spPr>
      </p:sp>
      <p:sp>
        <p:nvSpPr>
          <p:cNvPr id="13" name="Text 11"/>
          <p:cNvSpPr txBox="1"/>
          <p:nvPr/>
        </p:nvSpPr>
        <p:spPr>
          <a:xfrm>
            <a:off x="502920" y="470916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069848" y="4681728"/>
            <a:ext cx="4507992" cy="329184"/>
          </a:xfrm>
          <a:prstGeom prst="rect">
            <a:avLst/>
          </a:prstGeom>
          <a:noFill/>
          <a:ln/>
        </p:spPr>
        <p:txBody>
          <a:bodyPr wrap="square" lIns="0" tIns="0" rIns="0" bIns="0" rtlCol="0" anchor="t"/>
          <a:lstStyle/>
          <a:p>
            <a:pPr algn="l" indent="0" marL="0">
              <a:buNone/>
            </a:pPr>
            <a:r>
              <a:rPr lang="en-US" sz="1500" b="1" dirty="0">
                <a:solidFill>
                  <a:srgbClr val="0B2A47"/>
                </a:solidFill>
                <a:latin typeface="Calibri" pitchFamily="34" charset="0"/>
                <a:ea typeface="Calibri" pitchFamily="34" charset="-122"/>
                <a:cs typeface="Calibri" pitchFamily="34" charset="-120"/>
              </a:rPr>
              <a:t>Highest Conversion Rates</a:t>
            </a:r>
            <a:endParaRPr lang="en-US" sz="1500" dirty="0"/>
          </a:p>
        </p:txBody>
      </p:sp>
      <p:sp>
        <p:nvSpPr>
          <p:cNvPr id="15" name="Text 13"/>
          <p:cNvSpPr txBox="1"/>
          <p:nvPr/>
        </p:nvSpPr>
        <p:spPr>
          <a:xfrm>
            <a:off x="1069848" y="5001768"/>
            <a:ext cx="4507992" cy="960120"/>
          </a:xfrm>
          <a:prstGeom prst="rect">
            <a:avLst/>
          </a:prstGeom>
          <a:noFill/>
          <a:ln/>
        </p:spPr>
        <p:txBody>
          <a:bodyPr wrap="square" lIns="0" tIns="0" rIns="0" bIns="0" rtlCol="0" anchor="t"/>
          <a:lstStyle/>
          <a:p>
            <a:pPr algn="l" indent="0" marL="0">
              <a:lnSpc>
                <a:spcPct val="112000"/>
              </a:lnSpc>
              <a:buNone/>
            </a:pPr>
            <a:r>
              <a:rPr lang="en-US" sz="1150" dirty="0">
                <a:solidFill>
                  <a:srgbClr val="3D4A5C"/>
                </a:solidFill>
                <a:latin typeface="Calibri" pitchFamily="34" charset="0"/>
                <a:ea typeface="Calibri" pitchFamily="34" charset="-122"/>
                <a:cs typeface="Calibri" pitchFamily="34" charset="-120"/>
              </a:rPr>
              <a:t>January led the pack at 17.3%, thanks largely to Ski Boots hitting a perfect 100% conversion. A strong sign that seasonal demand and good marketing timing really pay off.</a:t>
            </a:r>
            <a:endParaRPr lang="en-US" sz="1150" dirty="0"/>
          </a:p>
        </p:txBody>
      </p:sp>
      <p:sp>
        <p:nvSpPr>
          <p:cNvPr id="16" name="Shape 14"/>
          <p:cNvSpPr/>
          <p:nvPr/>
        </p:nvSpPr>
        <p:spPr>
          <a:xfrm>
            <a:off x="5852160" y="1417320"/>
            <a:ext cx="6016752" cy="4139418"/>
          </a:xfrm>
          <a:prstGeom prst="roundRect">
            <a:avLst>
              <a:gd name="adj" fmla="val 1767"/>
            </a:avLst>
          </a:prstGeom>
          <a:solidFill>
            <a:srgbClr val="FFFFFF"/>
          </a:solidFill>
          <a:ln w="12700">
            <a:solidFill>
              <a:srgbClr val="E2E8ED"/>
            </a:solidFill>
            <a:prstDash val="solid"/>
          </a:ln>
          <a:effectLst>
            <a:outerShdw sx="100000" sy="100000" kx="0" ky="0" algn="bl" rotWithShape="0" blurRad="127000" dist="38100" dir="5400000">
              <a:srgbClr val="1B2A3A">
                <a:alpha val="18000"/>
              </a:srgbClr>
            </a:outerShdw>
          </a:effectLst>
        </p:spPr>
      </p:sp>
      <p:pic>
        <p:nvPicPr>
          <p:cNvPr id="17" name="Image 0" descr="assets/conv_table.png">    </p:cNvPr>
          <p:cNvPicPr>
            <a:picLocks noChangeAspect="1"/>
          </p:cNvPicPr>
          <p:nvPr/>
        </p:nvPicPr>
        <p:blipFill>
          <a:blip r:embed="rId1"/>
          <a:stretch>
            <a:fillRect/>
          </a:stretch>
        </p:blipFill>
        <p:spPr>
          <a:xfrm>
            <a:off x="5989320" y="1554480"/>
            <a:ext cx="5742432" cy="3865098"/>
          </a:xfrm>
          <a:prstGeom prst="rect">
            <a:avLst/>
          </a:prstGeom>
        </p:spPr>
      </p:pic>
      <p:sp>
        <p:nvSpPr>
          <p:cNvPr id="18" name="Shape 15"/>
          <p:cNvSpPr/>
          <p:nvPr/>
        </p:nvSpPr>
        <p:spPr>
          <a:xfrm>
            <a:off x="6899495" y="1554480"/>
            <a:ext cx="412881" cy="3865098"/>
          </a:xfrm>
          <a:prstGeom prst="rect">
            <a:avLst/>
          </a:prstGeom>
          <a:ln w="28575">
            <a:solidFill>
              <a:srgbClr val="13858D"/>
            </a:solidFill>
            <a:prstDash val="solid"/>
          </a:ln>
        </p:spPr>
      </p:sp>
      <p:sp>
        <p:nvSpPr>
          <p:cNvPr id="19" name="Shape 16"/>
          <p:cNvSpPr/>
          <p:nvPr/>
        </p:nvSpPr>
        <p:spPr>
          <a:xfrm>
            <a:off x="9978013" y="1554480"/>
            <a:ext cx="323873" cy="3865098"/>
          </a:xfrm>
          <a:prstGeom prst="rect">
            <a:avLst/>
          </a:prstGeom>
          <a:ln w="28575">
            <a:solidFill>
              <a:srgbClr val="E97028"/>
            </a:solidFill>
            <a:prstDash val="solid"/>
          </a:ln>
        </p:spPr>
      </p:sp>
      <p:pic>
        <p:nvPicPr>
          <p:cNvPr id="20" name="Image 1" descr="assets/logo.png">    </p:cNvPr>
          <p:cNvPicPr>
            <a:picLocks noChangeAspect="1"/>
          </p:cNvPicPr>
          <p:nvPr/>
        </p:nvPicPr>
        <p:blipFill>
          <a:blip r:embed="rId2"/>
          <a:stretch>
            <a:fillRect/>
          </a:stretch>
        </p:blipFill>
        <p:spPr>
          <a:xfrm>
            <a:off x="10927080" y="6473952"/>
            <a:ext cx="868680" cy="289865"/>
          </a:xfrm>
          <a:prstGeom prst="rect">
            <a:avLst/>
          </a:prstGeom>
        </p:spPr>
      </p:pic>
      <p:sp>
        <p:nvSpPr>
          <p:cNvPr id="21" name="Text 17"/>
          <p:cNvSpPr txBox="1"/>
          <p:nvPr/>
        </p:nvSpPr>
        <p:spPr>
          <a:xfrm>
            <a:off x="11795760" y="6473952"/>
            <a:ext cx="320040" cy="289865"/>
          </a:xfrm>
          <a:prstGeom prst="rect">
            <a:avLst/>
          </a:prstGeom>
          <a:noFill/>
          <a:ln/>
        </p:spPr>
        <p:txBody>
          <a:bodyPr wrap="square" rtlCol="0" anchor="ctr"/>
          <a:lstStyle/>
          <a:p>
            <a:pPr algn="r" indent="0" marL="0">
              <a:buNone/>
            </a:pPr>
            <a:r>
              <a:rPr lang="en-US" sz="1000" dirty="0">
                <a:solidFill>
                  <a:srgbClr val="7A879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9601200" cy="640080"/>
          </a:xfrm>
          <a:prstGeom prst="rect">
            <a:avLst/>
          </a:prstGeom>
          <a:noFill/>
          <a:ln/>
        </p:spPr>
        <p:txBody>
          <a:bodyPr wrap="square" lIns="0" tIns="0" rIns="0" bIns="0" rtlCol="0" anchor="t"/>
          <a:lstStyle/>
          <a:p>
            <a:pPr algn="l" indent="0" marL="0">
              <a:buNone/>
            </a:pPr>
            <a:r>
              <a:rPr lang="en-US" sz="3200" b="1" dirty="0">
                <a:solidFill>
                  <a:srgbClr val="0B2A47"/>
                </a:solidFill>
                <a:latin typeface="Calibri" pitchFamily="34" charset="0"/>
                <a:ea typeface="Calibri" pitchFamily="34" charset="-122"/>
                <a:cs typeface="Calibri" pitchFamily="34" charset="-120"/>
              </a:rPr>
              <a:t>Reduced Customer Engagement</a:t>
            </a:r>
            <a:endParaRPr lang="en-US" sz="3200" dirty="0"/>
          </a:p>
        </p:txBody>
      </p:sp>
      <p:sp>
        <p:nvSpPr>
          <p:cNvPr id="3" name="Shape 1"/>
          <p:cNvSpPr/>
          <p:nvPr/>
        </p:nvSpPr>
        <p:spPr>
          <a:xfrm>
            <a:off x="521208" y="1042416"/>
            <a:ext cx="457200" cy="41148"/>
          </a:xfrm>
          <a:prstGeom prst="rect">
            <a:avLst/>
          </a:prstGeom>
          <a:solidFill>
            <a:srgbClr val="E97028"/>
          </a:solidFill>
          <a:ln/>
        </p:spPr>
      </p:sp>
      <p:sp>
        <p:nvSpPr>
          <p:cNvPr id="4" name="Shape 2"/>
          <p:cNvSpPr/>
          <p:nvPr/>
        </p:nvSpPr>
        <p:spPr>
          <a:xfrm>
            <a:off x="502920" y="1463040"/>
            <a:ext cx="402336" cy="402336"/>
          </a:xfrm>
          <a:prstGeom prst="ellipse">
            <a:avLst/>
          </a:prstGeom>
          <a:solidFill>
            <a:srgbClr val="13858D"/>
          </a:solidFill>
          <a:ln/>
        </p:spPr>
      </p:sp>
      <p:sp>
        <p:nvSpPr>
          <p:cNvPr id="5" name="Text 3"/>
          <p:cNvSpPr txBox="1"/>
          <p:nvPr/>
        </p:nvSpPr>
        <p:spPr>
          <a:xfrm>
            <a:off x="502920" y="146304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069848" y="1435608"/>
            <a:ext cx="5422392" cy="329184"/>
          </a:xfrm>
          <a:prstGeom prst="rect">
            <a:avLst/>
          </a:prstGeom>
          <a:noFill/>
          <a:ln/>
        </p:spPr>
        <p:txBody>
          <a:bodyPr wrap="square" lIns="0" tIns="0" rIns="0" bIns="0" rtlCol="0" anchor="t"/>
          <a:lstStyle/>
          <a:p>
            <a:pPr algn="l" indent="0" marL="0">
              <a:buNone/>
            </a:pPr>
            <a:r>
              <a:rPr lang="en-US" sz="1500" b="1" dirty="0">
                <a:solidFill>
                  <a:srgbClr val="0B2A47"/>
                </a:solidFill>
                <a:latin typeface="Calibri" pitchFamily="34" charset="0"/>
                <a:ea typeface="Calibri" pitchFamily="34" charset="-122"/>
                <a:cs typeface="Calibri" pitchFamily="34" charset="-120"/>
              </a:rPr>
              <a:t>Declining Views</a:t>
            </a:r>
            <a:endParaRPr lang="en-US" sz="1500" dirty="0"/>
          </a:p>
        </p:txBody>
      </p:sp>
      <p:sp>
        <p:nvSpPr>
          <p:cNvPr id="7" name="Text 5"/>
          <p:cNvSpPr txBox="1"/>
          <p:nvPr/>
        </p:nvSpPr>
        <p:spPr>
          <a:xfrm>
            <a:off x="1069848" y="1755648"/>
            <a:ext cx="5422392" cy="1005840"/>
          </a:xfrm>
          <a:prstGeom prst="rect">
            <a:avLst/>
          </a:prstGeom>
          <a:noFill/>
          <a:ln/>
        </p:spPr>
        <p:txBody>
          <a:bodyPr wrap="square" lIns="0" tIns="0" rIns="0" bIns="0" rtlCol="0" anchor="t"/>
          <a:lstStyle/>
          <a:p>
            <a:pPr algn="l" indent="0" marL="0">
              <a:lnSpc>
                <a:spcPct val="112000"/>
              </a:lnSpc>
              <a:buNone/>
            </a:pPr>
            <a:r>
              <a:rPr lang="en-US" sz="1150" dirty="0">
                <a:solidFill>
                  <a:srgbClr val="3D4A5C"/>
                </a:solidFill>
                <a:latin typeface="Calibri" pitchFamily="34" charset="0"/>
                <a:ea typeface="Calibri" pitchFamily="34" charset="-122"/>
                <a:cs typeface="Calibri" pitchFamily="34" charset="-120"/>
              </a:rPr>
              <a:t>Views were strongest from January through April, then kept sliding from May on. Audience interest clearly cooled off after the first quarter.</a:t>
            </a:r>
            <a:endParaRPr lang="en-US" sz="1150" dirty="0"/>
          </a:p>
        </p:txBody>
      </p:sp>
      <p:sp>
        <p:nvSpPr>
          <p:cNvPr id="8" name="Shape 6"/>
          <p:cNvSpPr/>
          <p:nvPr/>
        </p:nvSpPr>
        <p:spPr>
          <a:xfrm>
            <a:off x="502920" y="2880360"/>
            <a:ext cx="402336" cy="402336"/>
          </a:xfrm>
          <a:prstGeom prst="ellipse">
            <a:avLst/>
          </a:prstGeom>
          <a:solidFill>
            <a:srgbClr val="E97028"/>
          </a:solidFill>
          <a:ln/>
        </p:spPr>
      </p:sp>
      <p:sp>
        <p:nvSpPr>
          <p:cNvPr id="9" name="Text 7"/>
          <p:cNvSpPr txBox="1"/>
          <p:nvPr/>
        </p:nvSpPr>
        <p:spPr>
          <a:xfrm>
            <a:off x="502920" y="288036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069848" y="2852928"/>
            <a:ext cx="5422392" cy="329184"/>
          </a:xfrm>
          <a:prstGeom prst="rect">
            <a:avLst/>
          </a:prstGeom>
          <a:noFill/>
          <a:ln/>
        </p:spPr>
        <p:txBody>
          <a:bodyPr wrap="square" lIns="0" tIns="0" rIns="0" bIns="0" rtlCol="0" anchor="t"/>
          <a:lstStyle/>
          <a:p>
            <a:pPr algn="l" indent="0" marL="0">
              <a:buNone/>
            </a:pPr>
            <a:r>
              <a:rPr lang="en-US" sz="1500" b="1" dirty="0">
                <a:solidFill>
                  <a:srgbClr val="0B2A47"/>
                </a:solidFill>
                <a:latin typeface="Calibri" pitchFamily="34" charset="0"/>
                <a:ea typeface="Calibri" pitchFamily="34" charset="-122"/>
                <a:cs typeface="Calibri" pitchFamily="34" charset="-120"/>
              </a:rPr>
              <a:t>Low Interaction Rates</a:t>
            </a:r>
            <a:endParaRPr lang="en-US" sz="1500" dirty="0"/>
          </a:p>
        </p:txBody>
      </p:sp>
      <p:sp>
        <p:nvSpPr>
          <p:cNvPr id="11" name="Text 9"/>
          <p:cNvSpPr txBox="1"/>
          <p:nvPr/>
        </p:nvSpPr>
        <p:spPr>
          <a:xfrm>
            <a:off x="1069848" y="3172968"/>
            <a:ext cx="5422392" cy="914400"/>
          </a:xfrm>
          <a:prstGeom prst="rect">
            <a:avLst/>
          </a:prstGeom>
          <a:noFill/>
          <a:ln/>
        </p:spPr>
        <p:txBody>
          <a:bodyPr wrap="square" lIns="0" tIns="0" rIns="0" bIns="0" rtlCol="0" anchor="t"/>
          <a:lstStyle/>
          <a:p>
            <a:pPr algn="l" indent="0" marL="0">
              <a:lnSpc>
                <a:spcPct val="112000"/>
              </a:lnSpc>
              <a:buNone/>
            </a:pPr>
            <a:r>
              <a:rPr lang="en-US" sz="1150" dirty="0">
                <a:solidFill>
                  <a:srgbClr val="3D4A5C"/>
                </a:solidFill>
                <a:latin typeface="Calibri" pitchFamily="34" charset="0"/>
                <a:ea typeface="Calibri" pitchFamily="34" charset="-122"/>
                <a:cs typeface="Calibri" pitchFamily="34" charset="-120"/>
              </a:rPr>
              <a:t>Clicks and likes stayed pretty flat compared to how many people were viewing. We probably need content that gives people more reason to actually interact, not just scroll past.</a:t>
            </a:r>
            <a:endParaRPr lang="en-US" sz="1150" dirty="0"/>
          </a:p>
        </p:txBody>
      </p:sp>
      <p:sp>
        <p:nvSpPr>
          <p:cNvPr id="12" name="Shape 10"/>
          <p:cNvSpPr/>
          <p:nvPr/>
        </p:nvSpPr>
        <p:spPr>
          <a:xfrm>
            <a:off x="502920" y="4160520"/>
            <a:ext cx="402336" cy="402336"/>
          </a:xfrm>
          <a:prstGeom prst="ellipse">
            <a:avLst/>
          </a:prstGeom>
          <a:solidFill>
            <a:srgbClr val="0B2A47"/>
          </a:solidFill>
          <a:ln/>
        </p:spPr>
      </p:sp>
      <p:sp>
        <p:nvSpPr>
          <p:cNvPr id="13" name="Text 11"/>
          <p:cNvSpPr txBox="1"/>
          <p:nvPr/>
        </p:nvSpPr>
        <p:spPr>
          <a:xfrm>
            <a:off x="502920" y="416052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069848" y="4133088"/>
            <a:ext cx="5422392" cy="329184"/>
          </a:xfrm>
          <a:prstGeom prst="rect">
            <a:avLst/>
          </a:prstGeom>
          <a:noFill/>
          <a:ln/>
        </p:spPr>
        <p:txBody>
          <a:bodyPr wrap="square" lIns="0" tIns="0" rIns="0" bIns="0" rtlCol="0" anchor="t"/>
          <a:lstStyle/>
          <a:p>
            <a:pPr algn="l" indent="0" marL="0">
              <a:buNone/>
            </a:pPr>
            <a:r>
              <a:rPr lang="en-US" sz="1500" b="1" dirty="0">
                <a:solidFill>
                  <a:srgbClr val="0B2A47"/>
                </a:solidFill>
                <a:latin typeface="Calibri" pitchFamily="34" charset="0"/>
                <a:ea typeface="Calibri" pitchFamily="34" charset="-122"/>
                <a:cs typeface="Calibri" pitchFamily="34" charset="-120"/>
              </a:rPr>
              <a:t>Content Type Performance</a:t>
            </a:r>
            <a:endParaRPr lang="en-US" sz="1500" dirty="0"/>
          </a:p>
        </p:txBody>
      </p:sp>
      <p:sp>
        <p:nvSpPr>
          <p:cNvPr id="15" name="Text 13"/>
          <p:cNvSpPr txBox="1"/>
          <p:nvPr/>
        </p:nvSpPr>
        <p:spPr>
          <a:xfrm>
            <a:off x="1069848" y="4453128"/>
            <a:ext cx="5422392" cy="1005840"/>
          </a:xfrm>
          <a:prstGeom prst="rect">
            <a:avLst/>
          </a:prstGeom>
          <a:noFill/>
          <a:ln/>
        </p:spPr>
        <p:txBody>
          <a:bodyPr wrap="square" lIns="0" tIns="0" rIns="0" bIns="0" rtlCol="0" anchor="t"/>
          <a:lstStyle/>
          <a:p>
            <a:pPr algn="l" indent="0" marL="0">
              <a:lnSpc>
                <a:spcPct val="112000"/>
              </a:lnSpc>
              <a:buNone/>
            </a:pPr>
            <a:r>
              <a:rPr lang="en-US" sz="1150" dirty="0">
                <a:solidFill>
                  <a:srgbClr val="3D4A5C"/>
                </a:solidFill>
                <a:latin typeface="Calibri" pitchFamily="34" charset="0"/>
                <a:ea typeface="Calibri" pitchFamily="34" charset="-122"/>
                <a:cs typeface="Calibri" pitchFamily="34" charset="-120"/>
              </a:rPr>
              <a:t>Blog posts pulled in the most views by far, especially early in the year, while social and video content stayed steady but never quite caught up.</a:t>
            </a:r>
            <a:endParaRPr lang="en-US" sz="1150" dirty="0"/>
          </a:p>
        </p:txBody>
      </p:sp>
      <p:sp>
        <p:nvSpPr>
          <p:cNvPr id="16" name="Shape 14"/>
          <p:cNvSpPr/>
          <p:nvPr/>
        </p:nvSpPr>
        <p:spPr>
          <a:xfrm>
            <a:off x="6949440" y="1143000"/>
            <a:ext cx="4754880" cy="2527752"/>
          </a:xfrm>
          <a:prstGeom prst="roundRect">
            <a:avLst>
              <a:gd name="adj" fmla="val 2894"/>
            </a:avLst>
          </a:prstGeom>
          <a:solidFill>
            <a:srgbClr val="FFFFFF"/>
          </a:solidFill>
          <a:ln w="12700">
            <a:solidFill>
              <a:srgbClr val="E2E8ED"/>
            </a:solidFill>
            <a:prstDash val="solid"/>
          </a:ln>
          <a:effectLst>
            <a:outerShdw sx="100000" sy="100000" kx="0" ky="0" algn="bl" rotWithShape="0" blurRad="127000" dist="38100" dir="5400000">
              <a:srgbClr val="1B2A3A">
                <a:alpha val="18000"/>
              </a:srgbClr>
            </a:outerShdw>
          </a:effectLst>
        </p:spPr>
      </p:sp>
      <p:pic>
        <p:nvPicPr>
          <p:cNvPr id="17" name="Image 0" descr="assets/views_line.png">    </p:cNvPr>
          <p:cNvPicPr>
            <a:picLocks noChangeAspect="1"/>
          </p:cNvPicPr>
          <p:nvPr/>
        </p:nvPicPr>
        <p:blipFill>
          <a:blip r:embed="rId1"/>
          <a:stretch>
            <a:fillRect/>
          </a:stretch>
        </p:blipFill>
        <p:spPr>
          <a:xfrm>
            <a:off x="7086600" y="1280160"/>
            <a:ext cx="4480560" cy="2253432"/>
          </a:xfrm>
          <a:prstGeom prst="rect">
            <a:avLst/>
          </a:prstGeom>
        </p:spPr>
      </p:pic>
      <p:sp>
        <p:nvSpPr>
          <p:cNvPr id="18" name="Shape 15"/>
          <p:cNvSpPr/>
          <p:nvPr/>
        </p:nvSpPr>
        <p:spPr>
          <a:xfrm>
            <a:off x="9326880" y="1879573"/>
            <a:ext cx="1922160" cy="344775"/>
          </a:xfrm>
          <a:prstGeom prst="line">
            <a:avLst/>
          </a:prstGeom>
          <a:noFill/>
          <a:ln w="31750">
            <a:solidFill>
              <a:srgbClr val="E97028"/>
            </a:solidFill>
            <a:prstDash val="solid"/>
            <a:tailEnd type="triangle"/>
          </a:ln>
        </p:spPr>
      </p:sp>
      <p:sp>
        <p:nvSpPr>
          <p:cNvPr id="19" name="Shape 16"/>
          <p:cNvSpPr/>
          <p:nvPr/>
        </p:nvSpPr>
        <p:spPr>
          <a:xfrm>
            <a:off x="6949440" y="3780480"/>
            <a:ext cx="4754880" cy="2527600"/>
          </a:xfrm>
          <a:prstGeom prst="roundRect">
            <a:avLst>
              <a:gd name="adj" fmla="val 2894"/>
            </a:avLst>
          </a:prstGeom>
          <a:solidFill>
            <a:srgbClr val="FFFFFF"/>
          </a:solidFill>
          <a:ln w="12700">
            <a:solidFill>
              <a:srgbClr val="E2E8ED"/>
            </a:solidFill>
            <a:prstDash val="solid"/>
          </a:ln>
          <a:effectLst>
            <a:outerShdw sx="100000" sy="100000" kx="0" ky="0" algn="bl" rotWithShape="0" blurRad="127000" dist="38100" dir="5400000">
              <a:srgbClr val="1B2A3A">
                <a:alpha val="18000"/>
              </a:srgbClr>
            </a:outerShdw>
          </a:effectLst>
        </p:spPr>
      </p:sp>
      <p:pic>
        <p:nvPicPr>
          <p:cNvPr id="20" name="Image 1" descr="assets/views_bar.png">    </p:cNvPr>
          <p:cNvPicPr>
            <a:picLocks noChangeAspect="1"/>
          </p:cNvPicPr>
          <p:nvPr/>
        </p:nvPicPr>
        <p:blipFill>
          <a:blip r:embed="rId2"/>
          <a:stretch>
            <a:fillRect/>
          </a:stretch>
        </p:blipFill>
        <p:spPr>
          <a:xfrm>
            <a:off x="7086600" y="3917640"/>
            <a:ext cx="4480560" cy="2253280"/>
          </a:xfrm>
          <a:prstGeom prst="rect">
            <a:avLst/>
          </a:prstGeom>
        </p:spPr>
      </p:pic>
      <p:pic>
        <p:nvPicPr>
          <p:cNvPr id="21" name="Image 2" descr="assets/logo.png">    </p:cNvPr>
          <p:cNvPicPr>
            <a:picLocks noChangeAspect="1"/>
          </p:cNvPicPr>
          <p:nvPr/>
        </p:nvPicPr>
        <p:blipFill>
          <a:blip r:embed="rId3"/>
          <a:stretch>
            <a:fillRect/>
          </a:stretch>
        </p:blipFill>
        <p:spPr>
          <a:xfrm>
            <a:off x="10927080" y="6473952"/>
            <a:ext cx="868680" cy="289865"/>
          </a:xfrm>
          <a:prstGeom prst="rect">
            <a:avLst/>
          </a:prstGeom>
        </p:spPr>
      </p:pic>
      <p:sp>
        <p:nvSpPr>
          <p:cNvPr id="22" name="Text 17"/>
          <p:cNvSpPr txBox="1"/>
          <p:nvPr/>
        </p:nvSpPr>
        <p:spPr>
          <a:xfrm>
            <a:off x="11795760" y="6473952"/>
            <a:ext cx="320040" cy="289865"/>
          </a:xfrm>
          <a:prstGeom prst="rect">
            <a:avLst/>
          </a:prstGeom>
          <a:noFill/>
          <a:ln/>
        </p:spPr>
        <p:txBody>
          <a:bodyPr wrap="square" rtlCol="0" anchor="ctr"/>
          <a:lstStyle/>
          <a:p>
            <a:pPr algn="r" indent="0" marL="0">
              <a:buNone/>
            </a:pPr>
            <a:r>
              <a:rPr lang="en-US" sz="1000" dirty="0">
                <a:solidFill>
                  <a:srgbClr val="7A879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9601200" cy="640080"/>
          </a:xfrm>
          <a:prstGeom prst="rect">
            <a:avLst/>
          </a:prstGeom>
          <a:noFill/>
          <a:ln/>
        </p:spPr>
        <p:txBody>
          <a:bodyPr wrap="square" lIns="0" tIns="0" rIns="0" bIns="0" rtlCol="0" anchor="t"/>
          <a:lstStyle/>
          <a:p>
            <a:pPr algn="l" indent="0" marL="0">
              <a:buNone/>
            </a:pPr>
            <a:r>
              <a:rPr lang="en-US" sz="3200" b="1" dirty="0">
                <a:solidFill>
                  <a:srgbClr val="0B2A47"/>
                </a:solidFill>
                <a:latin typeface="Calibri" pitchFamily="34" charset="0"/>
                <a:ea typeface="Calibri" pitchFamily="34" charset="-122"/>
                <a:cs typeface="Calibri" pitchFamily="34" charset="-120"/>
              </a:rPr>
              <a:t>Customer Feedback Analysis</a:t>
            </a:r>
            <a:endParaRPr lang="en-US" sz="3200" dirty="0"/>
          </a:p>
        </p:txBody>
      </p:sp>
      <p:sp>
        <p:nvSpPr>
          <p:cNvPr id="3" name="Shape 1"/>
          <p:cNvSpPr/>
          <p:nvPr/>
        </p:nvSpPr>
        <p:spPr>
          <a:xfrm>
            <a:off x="521208" y="1042416"/>
            <a:ext cx="457200" cy="41148"/>
          </a:xfrm>
          <a:prstGeom prst="rect">
            <a:avLst/>
          </a:prstGeom>
          <a:solidFill>
            <a:srgbClr val="E97028"/>
          </a:solidFill>
          <a:ln/>
        </p:spPr>
      </p:sp>
      <p:sp>
        <p:nvSpPr>
          <p:cNvPr id="4" name="Shape 2"/>
          <p:cNvSpPr/>
          <p:nvPr/>
        </p:nvSpPr>
        <p:spPr>
          <a:xfrm>
            <a:off x="502920" y="1463040"/>
            <a:ext cx="402336" cy="402336"/>
          </a:xfrm>
          <a:prstGeom prst="ellipse">
            <a:avLst/>
          </a:prstGeom>
          <a:solidFill>
            <a:srgbClr val="0B2A47"/>
          </a:solidFill>
          <a:ln/>
        </p:spPr>
      </p:sp>
      <p:sp>
        <p:nvSpPr>
          <p:cNvPr id="5" name="Text 3"/>
          <p:cNvSpPr txBox="1"/>
          <p:nvPr/>
        </p:nvSpPr>
        <p:spPr>
          <a:xfrm>
            <a:off x="502920" y="146304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069848" y="1435608"/>
            <a:ext cx="5513832" cy="329184"/>
          </a:xfrm>
          <a:prstGeom prst="rect">
            <a:avLst/>
          </a:prstGeom>
          <a:noFill/>
          <a:ln/>
        </p:spPr>
        <p:txBody>
          <a:bodyPr wrap="square" lIns="0" tIns="0" rIns="0" bIns="0" rtlCol="0" anchor="t"/>
          <a:lstStyle/>
          <a:p>
            <a:pPr algn="l" indent="0" marL="0">
              <a:buNone/>
            </a:pPr>
            <a:r>
              <a:rPr lang="en-US" sz="1500" b="1" dirty="0">
                <a:solidFill>
                  <a:srgbClr val="0B2A47"/>
                </a:solidFill>
                <a:latin typeface="Calibri" pitchFamily="34" charset="0"/>
                <a:ea typeface="Calibri" pitchFamily="34" charset="-122"/>
                <a:cs typeface="Calibri" pitchFamily="34" charset="-120"/>
              </a:rPr>
              <a:t>Customer Ratings Distribution</a:t>
            </a:r>
            <a:endParaRPr lang="en-US" sz="1500" dirty="0"/>
          </a:p>
        </p:txBody>
      </p:sp>
      <p:sp>
        <p:nvSpPr>
          <p:cNvPr id="7" name="Text 5"/>
          <p:cNvSpPr txBox="1"/>
          <p:nvPr/>
        </p:nvSpPr>
        <p:spPr>
          <a:xfrm>
            <a:off x="1069848" y="1755648"/>
            <a:ext cx="5513832" cy="1234440"/>
          </a:xfrm>
          <a:prstGeom prst="rect">
            <a:avLst/>
          </a:prstGeom>
          <a:noFill/>
          <a:ln/>
        </p:spPr>
        <p:txBody>
          <a:bodyPr wrap="square" lIns="0" tIns="0" rIns="0" bIns="0" rtlCol="0" anchor="t"/>
          <a:lstStyle/>
          <a:p>
            <a:pPr algn="l" indent="0" marL="0">
              <a:lnSpc>
                <a:spcPct val="112000"/>
              </a:lnSpc>
              <a:buNone/>
            </a:pPr>
            <a:r>
              <a:rPr lang="en-US" sz="1150" dirty="0">
                <a:solidFill>
                  <a:srgbClr val="3D4A5C"/>
                </a:solidFill>
                <a:latin typeface="Calibri" pitchFamily="34" charset="0"/>
                <a:ea typeface="Calibri" pitchFamily="34" charset="-122"/>
                <a:cs typeface="Calibri" pitchFamily="34" charset="-120"/>
              </a:rPr>
              <a:t>Most reviews skew positive, with 431 four star ratings and 409 five star ratings leading the way. The lower end is much smaller, just 80 one star and 153 two star reviews, so customers are largely happy with what they're getting.</a:t>
            </a:r>
            <a:endParaRPr lang="en-US" sz="1150" dirty="0"/>
          </a:p>
        </p:txBody>
      </p:sp>
      <p:sp>
        <p:nvSpPr>
          <p:cNvPr id="8" name="Shape 6"/>
          <p:cNvSpPr/>
          <p:nvPr/>
        </p:nvSpPr>
        <p:spPr>
          <a:xfrm>
            <a:off x="502920" y="3063240"/>
            <a:ext cx="402336" cy="402336"/>
          </a:xfrm>
          <a:prstGeom prst="ellipse">
            <a:avLst/>
          </a:prstGeom>
          <a:solidFill>
            <a:srgbClr val="13858D"/>
          </a:solidFill>
          <a:ln/>
        </p:spPr>
      </p:sp>
      <p:sp>
        <p:nvSpPr>
          <p:cNvPr id="9" name="Text 7"/>
          <p:cNvSpPr txBox="1"/>
          <p:nvPr/>
        </p:nvSpPr>
        <p:spPr>
          <a:xfrm>
            <a:off x="502920" y="306324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069848" y="3035808"/>
            <a:ext cx="5513832" cy="329184"/>
          </a:xfrm>
          <a:prstGeom prst="rect">
            <a:avLst/>
          </a:prstGeom>
          <a:noFill/>
          <a:ln/>
        </p:spPr>
        <p:txBody>
          <a:bodyPr wrap="square" lIns="0" tIns="0" rIns="0" bIns="0" rtlCol="0" anchor="t"/>
          <a:lstStyle/>
          <a:p>
            <a:pPr algn="l" indent="0" marL="0">
              <a:buNone/>
            </a:pPr>
            <a:r>
              <a:rPr lang="en-US" sz="1500" b="1" dirty="0">
                <a:solidFill>
                  <a:srgbClr val="0B2A47"/>
                </a:solidFill>
                <a:latin typeface="Calibri" pitchFamily="34" charset="0"/>
                <a:ea typeface="Calibri" pitchFamily="34" charset="-122"/>
                <a:cs typeface="Calibri" pitchFamily="34" charset="-120"/>
              </a:rPr>
              <a:t>Sentiment Analysis</a:t>
            </a:r>
            <a:endParaRPr lang="en-US" sz="1500" dirty="0"/>
          </a:p>
        </p:txBody>
      </p:sp>
      <p:sp>
        <p:nvSpPr>
          <p:cNvPr id="11" name="Text 9"/>
          <p:cNvSpPr txBox="1"/>
          <p:nvPr/>
        </p:nvSpPr>
        <p:spPr>
          <a:xfrm>
            <a:off x="1069848" y="3355848"/>
            <a:ext cx="5513832" cy="1051560"/>
          </a:xfrm>
          <a:prstGeom prst="rect">
            <a:avLst/>
          </a:prstGeom>
          <a:noFill/>
          <a:ln/>
        </p:spPr>
        <p:txBody>
          <a:bodyPr wrap="square" lIns="0" tIns="0" rIns="0" bIns="0" rtlCol="0" anchor="t"/>
          <a:lstStyle/>
          <a:p>
            <a:pPr algn="l" indent="0" marL="0">
              <a:lnSpc>
                <a:spcPct val="112000"/>
              </a:lnSpc>
              <a:buNone/>
            </a:pPr>
            <a:r>
              <a:rPr lang="en-US" sz="1150" dirty="0">
                <a:solidFill>
                  <a:srgbClr val="3D4A5C"/>
                </a:solidFill>
                <a:latin typeface="Calibri" pitchFamily="34" charset="0"/>
                <a:ea typeface="Calibri" pitchFamily="34" charset="-122"/>
                <a:cs typeface="Calibri" pitchFamily="34" charset="-120"/>
              </a:rPr>
              <a:t>840 reviews came back positive, which says a lot about how satisfied most customers are. 226 were negative, and a smaller group landed somewhere in the middle.</a:t>
            </a:r>
            <a:endParaRPr lang="en-US" sz="1150" dirty="0"/>
          </a:p>
        </p:txBody>
      </p:sp>
      <p:sp>
        <p:nvSpPr>
          <p:cNvPr id="12" name="Shape 10"/>
          <p:cNvSpPr/>
          <p:nvPr/>
        </p:nvSpPr>
        <p:spPr>
          <a:xfrm>
            <a:off x="502920" y="4480560"/>
            <a:ext cx="402336" cy="402336"/>
          </a:xfrm>
          <a:prstGeom prst="ellipse">
            <a:avLst/>
          </a:prstGeom>
          <a:solidFill>
            <a:srgbClr val="E97028"/>
          </a:solidFill>
          <a:ln/>
        </p:spPr>
      </p:sp>
      <p:sp>
        <p:nvSpPr>
          <p:cNvPr id="13" name="Text 11"/>
          <p:cNvSpPr txBox="1"/>
          <p:nvPr/>
        </p:nvSpPr>
        <p:spPr>
          <a:xfrm>
            <a:off x="502920" y="448056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069848" y="4453128"/>
            <a:ext cx="5513832" cy="329184"/>
          </a:xfrm>
          <a:prstGeom prst="rect">
            <a:avLst/>
          </a:prstGeom>
          <a:noFill/>
          <a:ln/>
        </p:spPr>
        <p:txBody>
          <a:bodyPr wrap="square" lIns="0" tIns="0" rIns="0" bIns="0" rtlCol="0" anchor="t"/>
          <a:lstStyle/>
          <a:p>
            <a:pPr algn="l" indent="0" marL="0">
              <a:buNone/>
            </a:pPr>
            <a:r>
              <a:rPr lang="en-US" sz="1500" b="1" dirty="0">
                <a:solidFill>
                  <a:srgbClr val="0B2A47"/>
                </a:solidFill>
                <a:latin typeface="Calibri" pitchFamily="34" charset="0"/>
                <a:ea typeface="Calibri" pitchFamily="34" charset="-122"/>
                <a:cs typeface="Calibri" pitchFamily="34" charset="-120"/>
              </a:rPr>
              <a:t>Opportunity for Improvement</a:t>
            </a:r>
            <a:endParaRPr lang="en-US" sz="1500" dirty="0"/>
          </a:p>
        </p:txBody>
      </p:sp>
      <p:sp>
        <p:nvSpPr>
          <p:cNvPr id="15" name="Text 13"/>
          <p:cNvSpPr txBox="1"/>
          <p:nvPr/>
        </p:nvSpPr>
        <p:spPr>
          <a:xfrm>
            <a:off x="1069848" y="4773168"/>
            <a:ext cx="5513832" cy="1234440"/>
          </a:xfrm>
          <a:prstGeom prst="rect">
            <a:avLst/>
          </a:prstGeom>
          <a:noFill/>
          <a:ln/>
        </p:spPr>
        <p:txBody>
          <a:bodyPr wrap="square" lIns="0" tIns="0" rIns="0" bIns="0" rtlCol="0" anchor="t"/>
          <a:lstStyle/>
          <a:p>
            <a:pPr algn="l" indent="0" marL="0">
              <a:lnSpc>
                <a:spcPct val="112000"/>
              </a:lnSpc>
              <a:buNone/>
            </a:pPr>
            <a:r>
              <a:rPr lang="en-US" sz="1150" dirty="0">
                <a:solidFill>
                  <a:srgbClr val="3D4A5C"/>
                </a:solidFill>
                <a:latin typeface="Calibri" pitchFamily="34" charset="0"/>
                <a:ea typeface="Calibri" pitchFamily="34" charset="-122"/>
                <a:cs typeface="Calibri" pitchFamily="34" charset="-120"/>
              </a:rPr>
              <a:t>Those mixed reviews are really the opportunity here. If we can figure out what's holding those customers back, there's a good chance we turn them into clear positives and lift satisfaction overall.</a:t>
            </a:r>
            <a:endParaRPr lang="en-US" sz="1150" dirty="0"/>
          </a:p>
        </p:txBody>
      </p:sp>
      <p:sp>
        <p:nvSpPr>
          <p:cNvPr id="16" name="Shape 14"/>
          <p:cNvSpPr/>
          <p:nvPr/>
        </p:nvSpPr>
        <p:spPr>
          <a:xfrm>
            <a:off x="8136768" y="1234440"/>
            <a:ext cx="3020305" cy="2606040"/>
          </a:xfrm>
          <a:prstGeom prst="roundRect">
            <a:avLst>
              <a:gd name="adj" fmla="val 2807"/>
            </a:avLst>
          </a:prstGeom>
          <a:solidFill>
            <a:srgbClr val="FFFFFF"/>
          </a:solidFill>
          <a:ln w="12700">
            <a:solidFill>
              <a:srgbClr val="E2E8ED"/>
            </a:solidFill>
            <a:prstDash val="solid"/>
          </a:ln>
          <a:effectLst>
            <a:outerShdw sx="100000" sy="100000" kx="0" ky="0" algn="bl" rotWithShape="0" blurRad="127000" dist="38100" dir="5400000">
              <a:srgbClr val="1B2A3A">
                <a:alpha val="18000"/>
              </a:srgbClr>
            </a:outerShdw>
          </a:effectLst>
        </p:spPr>
      </p:sp>
      <p:pic>
        <p:nvPicPr>
          <p:cNvPr id="17" name="Image 0" descr="assets/rating_bar.png">    </p:cNvPr>
          <p:cNvPicPr>
            <a:picLocks noChangeAspect="1"/>
          </p:cNvPicPr>
          <p:nvPr/>
        </p:nvPicPr>
        <p:blipFill>
          <a:blip r:embed="rId1"/>
          <a:stretch>
            <a:fillRect/>
          </a:stretch>
        </p:blipFill>
        <p:spPr>
          <a:xfrm>
            <a:off x="8273928" y="1371600"/>
            <a:ext cx="2745985" cy="2331720"/>
          </a:xfrm>
          <a:prstGeom prst="rect">
            <a:avLst/>
          </a:prstGeom>
        </p:spPr>
      </p:pic>
      <p:sp>
        <p:nvSpPr>
          <p:cNvPr id="18" name="Shape 15"/>
          <p:cNvSpPr/>
          <p:nvPr/>
        </p:nvSpPr>
        <p:spPr>
          <a:xfrm>
            <a:off x="8022074" y="4069080"/>
            <a:ext cx="3249692" cy="2606040"/>
          </a:xfrm>
          <a:prstGeom prst="roundRect">
            <a:avLst>
              <a:gd name="adj" fmla="val 2807"/>
            </a:avLst>
          </a:prstGeom>
          <a:solidFill>
            <a:srgbClr val="FFFFFF"/>
          </a:solidFill>
          <a:ln w="12700">
            <a:solidFill>
              <a:srgbClr val="E2E8ED"/>
            </a:solidFill>
            <a:prstDash val="solid"/>
          </a:ln>
          <a:effectLst>
            <a:outerShdw sx="100000" sy="100000" kx="0" ky="0" algn="bl" rotWithShape="0" blurRad="127000" dist="38100" dir="5400000">
              <a:srgbClr val="1B2A3A">
                <a:alpha val="18000"/>
              </a:srgbClr>
            </a:outerShdw>
          </a:effectLst>
        </p:spPr>
      </p:sp>
      <p:pic>
        <p:nvPicPr>
          <p:cNvPr id="19" name="Image 1" descr="assets/sentiment_bar.png">    </p:cNvPr>
          <p:cNvPicPr>
            <a:picLocks noChangeAspect="1"/>
          </p:cNvPicPr>
          <p:nvPr/>
        </p:nvPicPr>
        <p:blipFill>
          <a:blip r:embed="rId2"/>
          <a:stretch>
            <a:fillRect/>
          </a:stretch>
        </p:blipFill>
        <p:spPr>
          <a:xfrm>
            <a:off x="8159234" y="4206240"/>
            <a:ext cx="2975372" cy="2331720"/>
          </a:xfrm>
          <a:prstGeom prst="rect">
            <a:avLst/>
          </a:prstGeom>
        </p:spPr>
      </p:pic>
      <p:pic>
        <p:nvPicPr>
          <p:cNvPr id="20" name="Image 2" descr="assets/logo.png">    </p:cNvPr>
          <p:cNvPicPr>
            <a:picLocks noChangeAspect="1"/>
          </p:cNvPicPr>
          <p:nvPr/>
        </p:nvPicPr>
        <p:blipFill>
          <a:blip r:embed="rId3"/>
          <a:stretch>
            <a:fillRect/>
          </a:stretch>
        </p:blipFill>
        <p:spPr>
          <a:xfrm>
            <a:off x="10927080" y="6473952"/>
            <a:ext cx="868680" cy="289865"/>
          </a:xfrm>
          <a:prstGeom prst="rect">
            <a:avLst/>
          </a:prstGeom>
        </p:spPr>
      </p:pic>
      <p:sp>
        <p:nvSpPr>
          <p:cNvPr id="21" name="Text 16"/>
          <p:cNvSpPr txBox="1"/>
          <p:nvPr/>
        </p:nvSpPr>
        <p:spPr>
          <a:xfrm>
            <a:off x="11795760" y="6473952"/>
            <a:ext cx="320040" cy="289865"/>
          </a:xfrm>
          <a:prstGeom prst="rect">
            <a:avLst/>
          </a:prstGeom>
          <a:noFill/>
          <a:ln/>
        </p:spPr>
        <p:txBody>
          <a:bodyPr wrap="square" rtlCol="0" anchor="ctr"/>
          <a:lstStyle/>
          <a:p>
            <a:pPr algn="r" indent="0" marL="0">
              <a:buNone/>
            </a:pPr>
            <a:r>
              <a:rPr lang="en-US" sz="1000" dirty="0">
                <a:solidFill>
                  <a:srgbClr val="7A879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A47"/>
        </a:solidFill>
      </p:bgPr>
    </p:bg>
    <p:spTree>
      <p:nvGrpSpPr>
        <p:cNvPr id="1" name=""/>
        <p:cNvGrpSpPr/>
        <p:nvPr/>
      </p:nvGrpSpPr>
      <p:grpSpPr>
        <a:xfrm>
          <a:off x="0" y="0"/>
          <a:ext cx="0" cy="0"/>
          <a:chOff x="0" y="0"/>
          <a:chExt cx="0" cy="0"/>
        </a:xfrm>
      </p:grpSpPr>
      <p:sp>
        <p:nvSpPr>
          <p:cNvPr id="2" name="Text 0"/>
          <p:cNvSpPr txBox="1"/>
          <p:nvPr/>
        </p:nvSpPr>
        <p:spPr>
          <a:xfrm>
            <a:off x="502920" y="384048"/>
            <a:ext cx="9601200" cy="64008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Goals &amp; Actions</a:t>
            </a:r>
            <a:endParaRPr lang="en-US" sz="3200" dirty="0"/>
          </a:p>
        </p:txBody>
      </p:sp>
      <p:sp>
        <p:nvSpPr>
          <p:cNvPr id="3" name="Shape 1"/>
          <p:cNvSpPr/>
          <p:nvPr/>
        </p:nvSpPr>
        <p:spPr>
          <a:xfrm>
            <a:off x="521208" y="1042416"/>
            <a:ext cx="457200" cy="41148"/>
          </a:xfrm>
          <a:prstGeom prst="rect">
            <a:avLst/>
          </a:prstGeom>
          <a:solidFill>
            <a:srgbClr val="E97028"/>
          </a:solidFill>
          <a:ln/>
        </p:spPr>
      </p:sp>
      <p:sp>
        <p:nvSpPr>
          <p:cNvPr id="4" name="Text 2"/>
          <p:cNvSpPr txBox="1"/>
          <p:nvPr/>
        </p:nvSpPr>
        <p:spPr>
          <a:xfrm>
            <a:off x="1051560" y="1033272"/>
            <a:ext cx="4846320" cy="320040"/>
          </a:xfrm>
          <a:prstGeom prst="rect">
            <a:avLst/>
          </a:prstGeom>
          <a:noFill/>
          <a:ln/>
        </p:spPr>
        <p:txBody>
          <a:bodyPr wrap="square" lIns="0" tIns="0" rIns="0" bIns="0" rtlCol="0" anchor="ctr"/>
          <a:lstStyle/>
          <a:p>
            <a:pPr indent="0" marL="0">
              <a:buNone/>
            </a:pPr>
            <a:r>
              <a:rPr lang="en-US" sz="1200" b="1" spc="200" kern="0" dirty="0">
                <a:solidFill>
                  <a:srgbClr val="9FB4C7"/>
                </a:solidFill>
                <a:latin typeface="Calibri" pitchFamily="34" charset="0"/>
                <a:ea typeface="Calibri" pitchFamily="34" charset="-122"/>
                <a:cs typeface="Calibri" pitchFamily="34" charset="-120"/>
              </a:rPr>
              <a:t>GOAL</a:t>
            </a:r>
            <a:endParaRPr lang="en-US" sz="1200" dirty="0"/>
          </a:p>
        </p:txBody>
      </p:sp>
      <p:sp>
        <p:nvSpPr>
          <p:cNvPr id="5" name="Text 3"/>
          <p:cNvSpPr txBox="1"/>
          <p:nvPr/>
        </p:nvSpPr>
        <p:spPr>
          <a:xfrm>
            <a:off x="6812280" y="1033272"/>
            <a:ext cx="4846320" cy="320040"/>
          </a:xfrm>
          <a:prstGeom prst="rect">
            <a:avLst/>
          </a:prstGeom>
          <a:noFill/>
          <a:ln/>
        </p:spPr>
        <p:txBody>
          <a:bodyPr wrap="square" lIns="0" tIns="0" rIns="0" bIns="0" rtlCol="0" anchor="ctr"/>
          <a:lstStyle/>
          <a:p>
            <a:pPr indent="0" marL="0">
              <a:buNone/>
            </a:pPr>
            <a:r>
              <a:rPr lang="en-US" sz="1200" b="1" spc="200" kern="0" dirty="0">
                <a:solidFill>
                  <a:srgbClr val="9FB4C7"/>
                </a:solidFill>
                <a:latin typeface="Calibri" pitchFamily="34" charset="0"/>
                <a:ea typeface="Calibri" pitchFamily="34" charset="-122"/>
                <a:cs typeface="Calibri" pitchFamily="34" charset="-120"/>
              </a:rPr>
              <a:t>ACTION</a:t>
            </a:r>
            <a:endParaRPr lang="en-US" sz="1200" dirty="0"/>
          </a:p>
        </p:txBody>
      </p:sp>
      <p:sp>
        <p:nvSpPr>
          <p:cNvPr id="6" name="Shape 4"/>
          <p:cNvSpPr/>
          <p:nvPr/>
        </p:nvSpPr>
        <p:spPr>
          <a:xfrm>
            <a:off x="502920" y="1417320"/>
            <a:ext cx="5394960" cy="1691640"/>
          </a:xfrm>
          <a:prstGeom prst="roundRect">
            <a:avLst>
              <a:gd name="adj" fmla="val 3784"/>
            </a:avLst>
          </a:prstGeom>
          <a:solidFill>
            <a:srgbClr val="081D33"/>
          </a:solidFill>
          <a:ln w="12700">
            <a:solidFill>
              <a:srgbClr val="1D3A56"/>
            </a:solidFill>
            <a:prstDash val="solid"/>
          </a:ln>
        </p:spPr>
      </p:sp>
      <p:sp>
        <p:nvSpPr>
          <p:cNvPr id="7" name="Shape 5"/>
          <p:cNvSpPr/>
          <p:nvPr/>
        </p:nvSpPr>
        <p:spPr>
          <a:xfrm>
            <a:off x="6263640" y="1417320"/>
            <a:ext cx="5394960" cy="1691640"/>
          </a:xfrm>
          <a:prstGeom prst="roundRect">
            <a:avLst>
              <a:gd name="adj" fmla="val 3784"/>
            </a:avLst>
          </a:prstGeom>
          <a:solidFill>
            <a:srgbClr val="081D33"/>
          </a:solidFill>
          <a:ln w="12700">
            <a:solidFill>
              <a:srgbClr val="1D3A56"/>
            </a:solidFill>
            <a:prstDash val="solid"/>
          </a:ln>
        </p:spPr>
      </p:sp>
      <p:sp>
        <p:nvSpPr>
          <p:cNvPr id="8" name="Shape 6"/>
          <p:cNvSpPr/>
          <p:nvPr/>
        </p:nvSpPr>
        <p:spPr>
          <a:xfrm>
            <a:off x="704088" y="1618488"/>
            <a:ext cx="457200" cy="457200"/>
          </a:xfrm>
          <a:prstGeom prst="ellipse">
            <a:avLst/>
          </a:prstGeom>
          <a:solidFill>
            <a:srgbClr val="13858D"/>
          </a:solidFill>
          <a:ln/>
        </p:spPr>
      </p:sp>
      <p:sp>
        <p:nvSpPr>
          <p:cNvPr id="9" name="Text 7"/>
          <p:cNvSpPr txBox="1"/>
          <p:nvPr/>
        </p:nvSpPr>
        <p:spPr>
          <a:xfrm>
            <a:off x="704088" y="1618488"/>
            <a:ext cx="457200" cy="457200"/>
          </a:xfrm>
          <a:prstGeom prst="rect">
            <a:avLst/>
          </a:prstGeom>
          <a:noFill/>
          <a:ln/>
        </p:spPr>
        <p:txBody>
          <a:bodyPr wrap="square" lIns="0" tIns="0" rIns="0" bIns="0" rtlCol="0" anchor="ctr"/>
          <a:lstStyle/>
          <a:p>
            <a:pPr algn="ctr" indent="0" marL="0">
              <a:buNone/>
            </a:pPr>
            <a:r>
              <a:rPr lang="en-US" sz="1800" b="1" dirty="0">
                <a:solidFill>
                  <a:srgbClr val="0B2A47"/>
                </a:solidFill>
                <a:latin typeface="Calibri" pitchFamily="34" charset="0"/>
                <a:ea typeface="Calibri" pitchFamily="34" charset="-122"/>
                <a:cs typeface="Calibri" pitchFamily="34" charset="-120"/>
              </a:rPr>
              <a:t>1</a:t>
            </a:r>
            <a:endParaRPr lang="en-US" sz="1800" dirty="0"/>
          </a:p>
        </p:txBody>
      </p:sp>
      <p:sp>
        <p:nvSpPr>
          <p:cNvPr id="10" name="Text 8"/>
          <p:cNvSpPr txBox="1"/>
          <p:nvPr/>
        </p:nvSpPr>
        <p:spPr>
          <a:xfrm>
            <a:off x="1325880" y="1581912"/>
            <a:ext cx="4389120" cy="50292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Increase Conversion Rates</a:t>
            </a:r>
            <a:endParaRPr lang="en-US" sz="1450" dirty="0"/>
          </a:p>
        </p:txBody>
      </p:sp>
      <p:sp>
        <p:nvSpPr>
          <p:cNvPr id="11" name="Text 9"/>
          <p:cNvSpPr txBox="1"/>
          <p:nvPr/>
        </p:nvSpPr>
        <p:spPr>
          <a:xfrm>
            <a:off x="758952" y="2130552"/>
            <a:ext cx="4882896" cy="886968"/>
          </a:xfrm>
          <a:prstGeom prst="rect">
            <a:avLst/>
          </a:prstGeom>
          <a:noFill/>
          <a:ln/>
        </p:spPr>
        <p:txBody>
          <a:bodyPr wrap="square" lIns="0" tIns="0" rIns="0" bIns="0" rtlCol="0" anchor="t"/>
          <a:lstStyle/>
          <a:p>
            <a:pPr indent="0" marL="0">
              <a:lnSpc>
                <a:spcPct val="112000"/>
              </a:lnSpc>
              <a:buNone/>
            </a:pPr>
            <a:r>
              <a:rPr lang="en-US" sz="1050" dirty="0">
                <a:solidFill>
                  <a:srgbClr val="CBD6E0"/>
                </a:solidFill>
                <a:latin typeface="Calibri" pitchFamily="34" charset="0"/>
                <a:ea typeface="Calibri" pitchFamily="34" charset="-122"/>
                <a:cs typeface="Calibri" pitchFamily="34" charset="-120"/>
              </a:rPr>
              <a:t>Figure out what's actually holding conversion back and turn that into clear recommendations. Find where visitors drop off in the funnel and fix those spots.</a:t>
            </a:r>
            <a:endParaRPr lang="en-US" sz="1050" dirty="0"/>
          </a:p>
        </p:txBody>
      </p:sp>
      <p:sp>
        <p:nvSpPr>
          <p:cNvPr id="12" name="Text 10"/>
          <p:cNvSpPr txBox="1"/>
          <p:nvPr/>
        </p:nvSpPr>
        <p:spPr>
          <a:xfrm>
            <a:off x="6519672" y="1581912"/>
            <a:ext cx="4882896" cy="502920"/>
          </a:xfrm>
          <a:prstGeom prst="rect">
            <a:avLst/>
          </a:prstGeom>
          <a:noFill/>
          <a:ln/>
        </p:spPr>
        <p:txBody>
          <a:bodyPr wrap="square" lIns="0" tIns="0" rIns="0" bIns="0" rtlCol="0" anchor="t"/>
          <a:lstStyle/>
          <a:p>
            <a:pPr indent="0" marL="0">
              <a:buNone/>
            </a:pPr>
            <a:r>
              <a:rPr lang="en-US" sz="1450" b="1" dirty="0">
                <a:solidFill>
                  <a:srgbClr val="13858D"/>
                </a:solidFill>
                <a:latin typeface="Calibri" pitchFamily="34" charset="0"/>
                <a:ea typeface="Calibri" pitchFamily="34" charset="-122"/>
                <a:cs typeface="Calibri" pitchFamily="34" charset="-120"/>
              </a:rPr>
              <a:t>Increase Conversion Rates</a:t>
            </a:r>
            <a:endParaRPr lang="en-US" sz="1450" dirty="0"/>
          </a:p>
        </p:txBody>
      </p:sp>
      <p:sp>
        <p:nvSpPr>
          <p:cNvPr id="13" name="Text 11"/>
          <p:cNvSpPr txBox="1"/>
          <p:nvPr/>
        </p:nvSpPr>
        <p:spPr>
          <a:xfrm>
            <a:off x="6519672" y="2130552"/>
            <a:ext cx="4882896" cy="886968"/>
          </a:xfrm>
          <a:prstGeom prst="rect">
            <a:avLst/>
          </a:prstGeom>
          <a:noFill/>
          <a:ln/>
        </p:spPr>
        <p:txBody>
          <a:bodyPr wrap="square" lIns="0" tIns="0" rIns="0" bIns="0" rtlCol="0" anchor="t"/>
          <a:lstStyle/>
          <a:p>
            <a:pPr indent="0" marL="0">
              <a:lnSpc>
                <a:spcPct val="112000"/>
              </a:lnSpc>
              <a:buNone/>
            </a:pPr>
            <a:r>
              <a:rPr lang="en-US" sz="1050" dirty="0">
                <a:solidFill>
                  <a:srgbClr val="CBD6E0"/>
                </a:solidFill>
                <a:latin typeface="Calibri" pitchFamily="34" charset="0"/>
                <a:ea typeface="Calibri" pitchFamily="34" charset="-122"/>
                <a:cs typeface="Calibri" pitchFamily="34" charset="-120"/>
              </a:rPr>
              <a:t>Lean into the categories that already convert well, like Kayaks, Ski Boots, and Baseball Gloves, with seasonal campaigns timed around January and September.</a:t>
            </a:r>
            <a:endParaRPr lang="en-US" sz="1050" dirty="0"/>
          </a:p>
        </p:txBody>
      </p:sp>
      <p:sp>
        <p:nvSpPr>
          <p:cNvPr id="14" name="Shape 12"/>
          <p:cNvSpPr/>
          <p:nvPr/>
        </p:nvSpPr>
        <p:spPr>
          <a:xfrm>
            <a:off x="502920" y="3218688"/>
            <a:ext cx="5394960" cy="1691640"/>
          </a:xfrm>
          <a:prstGeom prst="roundRect">
            <a:avLst>
              <a:gd name="adj" fmla="val 3784"/>
            </a:avLst>
          </a:prstGeom>
          <a:solidFill>
            <a:srgbClr val="081D33"/>
          </a:solidFill>
          <a:ln w="12700">
            <a:solidFill>
              <a:srgbClr val="1D3A56"/>
            </a:solidFill>
            <a:prstDash val="solid"/>
          </a:ln>
        </p:spPr>
      </p:sp>
      <p:sp>
        <p:nvSpPr>
          <p:cNvPr id="15" name="Shape 13"/>
          <p:cNvSpPr/>
          <p:nvPr/>
        </p:nvSpPr>
        <p:spPr>
          <a:xfrm>
            <a:off x="6263640" y="3218688"/>
            <a:ext cx="5394960" cy="1691640"/>
          </a:xfrm>
          <a:prstGeom prst="roundRect">
            <a:avLst>
              <a:gd name="adj" fmla="val 3784"/>
            </a:avLst>
          </a:prstGeom>
          <a:solidFill>
            <a:srgbClr val="081D33"/>
          </a:solidFill>
          <a:ln w="12700">
            <a:solidFill>
              <a:srgbClr val="1D3A56"/>
            </a:solidFill>
            <a:prstDash val="solid"/>
          </a:ln>
        </p:spPr>
      </p:sp>
      <p:sp>
        <p:nvSpPr>
          <p:cNvPr id="16" name="Shape 14"/>
          <p:cNvSpPr/>
          <p:nvPr/>
        </p:nvSpPr>
        <p:spPr>
          <a:xfrm>
            <a:off x="704088" y="3419856"/>
            <a:ext cx="457200" cy="457200"/>
          </a:xfrm>
          <a:prstGeom prst="ellipse">
            <a:avLst/>
          </a:prstGeom>
          <a:solidFill>
            <a:srgbClr val="E97028"/>
          </a:solidFill>
          <a:ln/>
        </p:spPr>
      </p:sp>
      <p:sp>
        <p:nvSpPr>
          <p:cNvPr id="17" name="Text 15"/>
          <p:cNvSpPr txBox="1"/>
          <p:nvPr/>
        </p:nvSpPr>
        <p:spPr>
          <a:xfrm>
            <a:off x="704088" y="3419856"/>
            <a:ext cx="457200" cy="457200"/>
          </a:xfrm>
          <a:prstGeom prst="rect">
            <a:avLst/>
          </a:prstGeom>
          <a:noFill/>
          <a:ln/>
        </p:spPr>
        <p:txBody>
          <a:bodyPr wrap="square" lIns="0" tIns="0" rIns="0" bIns="0" rtlCol="0" anchor="ctr"/>
          <a:lstStyle/>
          <a:p>
            <a:pPr algn="ctr" indent="0" marL="0">
              <a:buNone/>
            </a:pPr>
            <a:r>
              <a:rPr lang="en-US" sz="1800" b="1" dirty="0">
                <a:solidFill>
                  <a:srgbClr val="0B2A47"/>
                </a:solidFill>
                <a:latin typeface="Calibri" pitchFamily="34" charset="0"/>
                <a:ea typeface="Calibri" pitchFamily="34" charset="-122"/>
                <a:cs typeface="Calibri" pitchFamily="34" charset="-120"/>
              </a:rPr>
              <a:t>2</a:t>
            </a:r>
            <a:endParaRPr lang="en-US" sz="1800" dirty="0"/>
          </a:p>
        </p:txBody>
      </p:sp>
      <p:sp>
        <p:nvSpPr>
          <p:cNvPr id="18" name="Text 16"/>
          <p:cNvSpPr txBox="1"/>
          <p:nvPr/>
        </p:nvSpPr>
        <p:spPr>
          <a:xfrm>
            <a:off x="1325880" y="3383280"/>
            <a:ext cx="4389120" cy="50292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Enhance Customer Engagement</a:t>
            </a:r>
            <a:endParaRPr lang="en-US" sz="1450" dirty="0"/>
          </a:p>
        </p:txBody>
      </p:sp>
      <p:sp>
        <p:nvSpPr>
          <p:cNvPr id="19" name="Text 17"/>
          <p:cNvSpPr txBox="1"/>
          <p:nvPr/>
        </p:nvSpPr>
        <p:spPr>
          <a:xfrm>
            <a:off x="758952" y="3931920"/>
            <a:ext cx="4882896" cy="886968"/>
          </a:xfrm>
          <a:prstGeom prst="rect">
            <a:avLst/>
          </a:prstGeom>
          <a:noFill/>
          <a:ln/>
        </p:spPr>
        <p:txBody>
          <a:bodyPr wrap="square" lIns="0" tIns="0" rIns="0" bIns="0" rtlCol="0" anchor="t"/>
          <a:lstStyle/>
          <a:p>
            <a:pPr indent="0" marL="0">
              <a:lnSpc>
                <a:spcPct val="112000"/>
              </a:lnSpc>
              <a:buNone/>
            </a:pPr>
            <a:r>
              <a:rPr lang="en-US" sz="1050" dirty="0">
                <a:solidFill>
                  <a:srgbClr val="CBD6E0"/>
                </a:solidFill>
                <a:latin typeface="Calibri" pitchFamily="34" charset="0"/>
                <a:ea typeface="Calibri" pitchFamily="34" charset="-122"/>
                <a:cs typeface="Calibri" pitchFamily="34" charset="-120"/>
              </a:rPr>
              <a:t>Learn which content types actually get people engaging, then use that to shape a smarter content strategy going forward.</a:t>
            </a:r>
            <a:endParaRPr lang="en-US" sz="1050" dirty="0"/>
          </a:p>
        </p:txBody>
      </p:sp>
      <p:sp>
        <p:nvSpPr>
          <p:cNvPr id="20" name="Text 18"/>
          <p:cNvSpPr txBox="1"/>
          <p:nvPr/>
        </p:nvSpPr>
        <p:spPr>
          <a:xfrm>
            <a:off x="6519672" y="3383280"/>
            <a:ext cx="4882896" cy="502920"/>
          </a:xfrm>
          <a:prstGeom prst="rect">
            <a:avLst/>
          </a:prstGeom>
          <a:noFill/>
          <a:ln/>
        </p:spPr>
        <p:txBody>
          <a:bodyPr wrap="square" lIns="0" tIns="0" rIns="0" bIns="0" rtlCol="0" anchor="t"/>
          <a:lstStyle/>
          <a:p>
            <a:pPr indent="0" marL="0">
              <a:buNone/>
            </a:pPr>
            <a:r>
              <a:rPr lang="en-US" sz="1450" b="1" dirty="0">
                <a:solidFill>
                  <a:srgbClr val="E97028"/>
                </a:solidFill>
                <a:latin typeface="Calibri" pitchFamily="34" charset="0"/>
                <a:ea typeface="Calibri" pitchFamily="34" charset="-122"/>
                <a:cs typeface="Calibri" pitchFamily="34" charset="-120"/>
              </a:rPr>
              <a:t>Enhance Customer Engagement</a:t>
            </a:r>
            <a:endParaRPr lang="en-US" sz="1450" dirty="0"/>
          </a:p>
        </p:txBody>
      </p:sp>
      <p:sp>
        <p:nvSpPr>
          <p:cNvPr id="21" name="Text 19"/>
          <p:cNvSpPr txBox="1"/>
          <p:nvPr/>
        </p:nvSpPr>
        <p:spPr>
          <a:xfrm>
            <a:off x="6519672" y="3931920"/>
            <a:ext cx="4882896" cy="886968"/>
          </a:xfrm>
          <a:prstGeom prst="rect">
            <a:avLst/>
          </a:prstGeom>
          <a:noFill/>
          <a:ln/>
        </p:spPr>
        <p:txBody>
          <a:bodyPr wrap="square" lIns="0" tIns="0" rIns="0" bIns="0" rtlCol="0" anchor="t"/>
          <a:lstStyle/>
          <a:p>
            <a:pPr indent="0" marL="0">
              <a:lnSpc>
                <a:spcPct val="112000"/>
              </a:lnSpc>
              <a:buNone/>
            </a:pPr>
            <a:r>
              <a:rPr lang="en-US" sz="1050" dirty="0">
                <a:solidFill>
                  <a:srgbClr val="CBD6E0"/>
                </a:solidFill>
                <a:latin typeface="Calibri" pitchFamily="34" charset="0"/>
                <a:ea typeface="Calibri" pitchFamily="34" charset="-122"/>
                <a:cs typeface="Calibri" pitchFamily="34" charset="-120"/>
              </a:rPr>
              <a:t>Refresh the content mix with formats people want to engage with, like interactive videos or user generated content, and tighten up calls to action, especially from September through December.</a:t>
            </a:r>
            <a:endParaRPr lang="en-US" sz="1050" dirty="0"/>
          </a:p>
        </p:txBody>
      </p:sp>
      <p:sp>
        <p:nvSpPr>
          <p:cNvPr id="22" name="Shape 20"/>
          <p:cNvSpPr/>
          <p:nvPr/>
        </p:nvSpPr>
        <p:spPr>
          <a:xfrm>
            <a:off x="502920" y="5020056"/>
            <a:ext cx="5394960" cy="1691640"/>
          </a:xfrm>
          <a:prstGeom prst="roundRect">
            <a:avLst>
              <a:gd name="adj" fmla="val 3784"/>
            </a:avLst>
          </a:prstGeom>
          <a:solidFill>
            <a:srgbClr val="081D33"/>
          </a:solidFill>
          <a:ln w="12700">
            <a:solidFill>
              <a:srgbClr val="1D3A56"/>
            </a:solidFill>
            <a:prstDash val="solid"/>
          </a:ln>
        </p:spPr>
      </p:sp>
      <p:sp>
        <p:nvSpPr>
          <p:cNvPr id="23" name="Shape 21"/>
          <p:cNvSpPr/>
          <p:nvPr/>
        </p:nvSpPr>
        <p:spPr>
          <a:xfrm>
            <a:off x="6263640" y="5020056"/>
            <a:ext cx="5394960" cy="1691640"/>
          </a:xfrm>
          <a:prstGeom prst="roundRect">
            <a:avLst>
              <a:gd name="adj" fmla="val 3784"/>
            </a:avLst>
          </a:prstGeom>
          <a:solidFill>
            <a:srgbClr val="081D33"/>
          </a:solidFill>
          <a:ln w="12700">
            <a:solidFill>
              <a:srgbClr val="1D3A56"/>
            </a:solidFill>
            <a:prstDash val="solid"/>
          </a:ln>
        </p:spPr>
      </p:sp>
      <p:sp>
        <p:nvSpPr>
          <p:cNvPr id="24" name="Shape 22"/>
          <p:cNvSpPr/>
          <p:nvPr/>
        </p:nvSpPr>
        <p:spPr>
          <a:xfrm>
            <a:off x="704088" y="5221224"/>
            <a:ext cx="457200" cy="457200"/>
          </a:xfrm>
          <a:prstGeom prst="ellipse">
            <a:avLst/>
          </a:prstGeom>
          <a:solidFill>
            <a:srgbClr val="5FA8C2"/>
          </a:solidFill>
          <a:ln/>
        </p:spPr>
      </p:sp>
      <p:sp>
        <p:nvSpPr>
          <p:cNvPr id="25" name="Text 23"/>
          <p:cNvSpPr txBox="1"/>
          <p:nvPr/>
        </p:nvSpPr>
        <p:spPr>
          <a:xfrm>
            <a:off x="704088" y="5221224"/>
            <a:ext cx="457200" cy="457200"/>
          </a:xfrm>
          <a:prstGeom prst="rect">
            <a:avLst/>
          </a:prstGeom>
          <a:noFill/>
          <a:ln/>
        </p:spPr>
        <p:txBody>
          <a:bodyPr wrap="square" lIns="0" tIns="0" rIns="0" bIns="0" rtlCol="0" anchor="ctr"/>
          <a:lstStyle/>
          <a:p>
            <a:pPr algn="ctr" indent="0" marL="0">
              <a:buNone/>
            </a:pPr>
            <a:r>
              <a:rPr lang="en-US" sz="1800" b="1" dirty="0">
                <a:solidFill>
                  <a:srgbClr val="0B2A47"/>
                </a:solidFill>
                <a:latin typeface="Calibri" pitchFamily="34" charset="0"/>
                <a:ea typeface="Calibri" pitchFamily="34" charset="-122"/>
                <a:cs typeface="Calibri" pitchFamily="34" charset="-120"/>
              </a:rPr>
              <a:t>3</a:t>
            </a:r>
            <a:endParaRPr lang="en-US" sz="1800" dirty="0"/>
          </a:p>
        </p:txBody>
      </p:sp>
      <p:sp>
        <p:nvSpPr>
          <p:cNvPr id="26" name="Text 24"/>
          <p:cNvSpPr txBox="1"/>
          <p:nvPr/>
        </p:nvSpPr>
        <p:spPr>
          <a:xfrm>
            <a:off x="1325880" y="5184648"/>
            <a:ext cx="4389120" cy="50292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Improve Customer Feedback Scores</a:t>
            </a:r>
            <a:endParaRPr lang="en-US" sz="1450" dirty="0"/>
          </a:p>
        </p:txBody>
      </p:sp>
      <p:sp>
        <p:nvSpPr>
          <p:cNvPr id="27" name="Text 25"/>
          <p:cNvSpPr txBox="1"/>
          <p:nvPr/>
        </p:nvSpPr>
        <p:spPr>
          <a:xfrm>
            <a:off x="758952" y="5733288"/>
            <a:ext cx="4882896" cy="886968"/>
          </a:xfrm>
          <a:prstGeom prst="rect">
            <a:avLst/>
          </a:prstGeom>
          <a:noFill/>
          <a:ln/>
        </p:spPr>
        <p:txBody>
          <a:bodyPr wrap="square" lIns="0" tIns="0" rIns="0" bIns="0" rtlCol="0" anchor="t"/>
          <a:lstStyle/>
          <a:p>
            <a:pPr indent="0" marL="0">
              <a:lnSpc>
                <a:spcPct val="112000"/>
              </a:lnSpc>
              <a:buNone/>
            </a:pPr>
            <a:r>
              <a:rPr lang="en-US" sz="1050" dirty="0">
                <a:solidFill>
                  <a:srgbClr val="CBD6E0"/>
                </a:solidFill>
                <a:latin typeface="Calibri" pitchFamily="34" charset="0"/>
                <a:ea typeface="Calibri" pitchFamily="34" charset="-122"/>
                <a:cs typeface="Calibri" pitchFamily="34" charset="-120"/>
              </a:rPr>
              <a:t>Dig into what customers keep saying, both good and bad, and turn those patterns into real product and service improvements.</a:t>
            </a:r>
            <a:endParaRPr lang="en-US" sz="1050" dirty="0"/>
          </a:p>
        </p:txBody>
      </p:sp>
      <p:sp>
        <p:nvSpPr>
          <p:cNvPr id="28" name="Text 26"/>
          <p:cNvSpPr txBox="1"/>
          <p:nvPr/>
        </p:nvSpPr>
        <p:spPr>
          <a:xfrm>
            <a:off x="6519672" y="5184648"/>
            <a:ext cx="4882896" cy="502920"/>
          </a:xfrm>
          <a:prstGeom prst="rect">
            <a:avLst/>
          </a:prstGeom>
          <a:noFill/>
          <a:ln/>
        </p:spPr>
        <p:txBody>
          <a:bodyPr wrap="square" lIns="0" tIns="0" rIns="0" bIns="0" rtlCol="0" anchor="t"/>
          <a:lstStyle/>
          <a:p>
            <a:pPr indent="0" marL="0">
              <a:buNone/>
            </a:pPr>
            <a:r>
              <a:rPr lang="en-US" sz="1450" b="1" dirty="0">
                <a:solidFill>
                  <a:srgbClr val="5FA8C2"/>
                </a:solidFill>
                <a:latin typeface="Calibri" pitchFamily="34" charset="0"/>
                <a:ea typeface="Calibri" pitchFamily="34" charset="-122"/>
                <a:cs typeface="Calibri" pitchFamily="34" charset="-120"/>
              </a:rPr>
              <a:t>Improve Customer Feedback Scores</a:t>
            </a:r>
            <a:endParaRPr lang="en-US" sz="1450" dirty="0"/>
          </a:p>
        </p:txBody>
      </p:sp>
      <p:sp>
        <p:nvSpPr>
          <p:cNvPr id="29" name="Text 27"/>
          <p:cNvSpPr txBox="1"/>
          <p:nvPr/>
        </p:nvSpPr>
        <p:spPr>
          <a:xfrm>
            <a:off x="6519672" y="5733288"/>
            <a:ext cx="4882896" cy="886968"/>
          </a:xfrm>
          <a:prstGeom prst="rect">
            <a:avLst/>
          </a:prstGeom>
          <a:noFill/>
          <a:ln/>
        </p:spPr>
        <p:txBody>
          <a:bodyPr wrap="square" lIns="0" tIns="0" rIns="0" bIns="0" rtlCol="0" anchor="t"/>
          <a:lstStyle/>
          <a:p>
            <a:pPr indent="0" marL="0">
              <a:lnSpc>
                <a:spcPct val="112000"/>
              </a:lnSpc>
              <a:buNone/>
            </a:pPr>
            <a:r>
              <a:rPr lang="en-US" sz="1050" dirty="0">
                <a:solidFill>
                  <a:srgbClr val="CBD6E0"/>
                </a:solidFill>
                <a:latin typeface="Calibri" pitchFamily="34" charset="0"/>
                <a:ea typeface="Calibri" pitchFamily="34" charset="-122"/>
                <a:cs typeface="Calibri" pitchFamily="34" charset="-120"/>
              </a:rPr>
              <a:t>Set up a simple process for reviewing mixed and negative feedback, and follow up with unhappy customers directly to fix issues and earn a re-rating toward that 4.0 goal.</a:t>
            </a:r>
            <a:endParaRPr lang="en-US" sz="1050" dirty="0"/>
          </a:p>
        </p:txBody>
      </p:sp>
      <p:sp>
        <p:nvSpPr>
          <p:cNvPr id="30" name="Shape 28"/>
          <p:cNvSpPr/>
          <p:nvPr/>
        </p:nvSpPr>
        <p:spPr>
          <a:xfrm>
            <a:off x="10853928" y="6428232"/>
            <a:ext cx="1014984" cy="381305"/>
          </a:xfrm>
          <a:prstGeom prst="roundRect">
            <a:avLst>
              <a:gd name="adj" fmla="val 14388"/>
            </a:avLst>
          </a:prstGeom>
          <a:solidFill>
            <a:srgbClr val="FFFFFF"/>
          </a:solidFill>
          <a:ln/>
        </p:spPr>
      </p:sp>
      <p:pic>
        <p:nvPicPr>
          <p:cNvPr id="31" name="Image 0" descr="assets/logo.png">    </p:cNvPr>
          <p:cNvPicPr>
            <a:picLocks noChangeAspect="1"/>
          </p:cNvPicPr>
          <p:nvPr/>
        </p:nvPicPr>
        <p:blipFill>
          <a:blip r:embed="rId1"/>
          <a:stretch>
            <a:fillRect/>
          </a:stretch>
        </p:blipFill>
        <p:spPr>
          <a:xfrm>
            <a:off x="10927080" y="6483096"/>
            <a:ext cx="868680" cy="289865"/>
          </a:xfrm>
          <a:prstGeom prst="rect">
            <a:avLst/>
          </a:prstGeom>
        </p:spPr>
      </p:pic>
      <p:sp>
        <p:nvSpPr>
          <p:cNvPr id="32" name="Text 29"/>
          <p:cNvSpPr txBox="1"/>
          <p:nvPr/>
        </p:nvSpPr>
        <p:spPr>
          <a:xfrm>
            <a:off x="11795760" y="6473952"/>
            <a:ext cx="320040" cy="289865"/>
          </a:xfrm>
          <a:prstGeom prst="rect">
            <a:avLst/>
          </a:prstGeom>
          <a:noFill/>
          <a:ln/>
        </p:spPr>
        <p:txBody>
          <a:bodyPr wrap="square" rtlCol="0" anchor="ctr"/>
          <a:lstStyle/>
          <a:p>
            <a:pPr algn="r" indent="0" marL="0">
              <a:buNone/>
            </a:pPr>
            <a:r>
              <a:rPr lang="en-US" sz="1000" dirty="0">
                <a:solidFill>
                  <a:srgbClr val="9FB4C7"/>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2026-09-14T07:54:29Z</dcterms:created>
  <dcterms:modified xsi:type="dcterms:W3CDTF">2026-09-14T07:54:29Z</dcterms:modified>
</cp:coreProperties>
</file>